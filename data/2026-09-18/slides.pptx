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마이크로니들 오늘 나온 최신 연구를 정리했습니다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《Materials today. Bio》 - Microneedle-mediated intelligent combination delivery for hair regeneration: A comprehensive review of technologies, mechanistic evidence, and translational prospects</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Androgenetic alopecia (AGA) is a prevalent hair-loss disorder with substantial psychosocial burden, while current treatments such as topical minoxidil and oral finasteride remain limited by insufficient follicular delivery, long-term adherence requirements, local irritation, systemic adverse effects, and recurrence after discontinuation.</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[paper_table] 약 8초</a:t>
            </a:r>
          </a:p>
          <a:p>
            <a:r>
              <a:t>대본: 표로 보면 이렇습니다. Comparison of the four core types of microneedles.</a:t>
            </a:r>
          </a:p>
          <a:p>
            <a:r>
              <a:t>연출 노트: 핵심 숫자 한 칸만 짚어준다. 표는 셀을 직접 수정할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Microneedle (MN) technology offers a minimally invasive local intervention strategy by bypassing the stratum corneum, enhancing follicular exposure, reducing unnecessary systemic distribution, and providing mechanical stimulation to the scalp microenvironment.</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MATERIALS TODAY. BIO</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마이크로니들</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오늘 나온 최신 연구를 정리했습니다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Oct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Microneedle-mediated intelligent combination delivery for hair regeneration: A comprehensive review of technologies, mechanistic evidence, and translational prospects</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Materials today. Bio  ·  2026 Oct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Androgenetic alopecia (AGA) is a prevalent hair-loss disorder with substantial psychosocial burden, while current treatments such as topical minoxidil and oral finasteride remain limited by insufficient follicular delivery, long-term adherence requirements, local irritation, systemic adverse effects, and recurrence after discontinuation.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1097280"/>
            <a:ext cx="4828032" cy="548640"/>
          </a:xfrm>
          <a:prstGeom prst="rect">
            <a:avLst/>
          </a:prstGeom>
          <a:noFill/>
        </p:spPr>
        <p:txBody>
          <a:bodyPr wrap="square" anchor="ctr">
            <a:spAutoFit/>
          </a:bodyPr>
          <a:lstStyle/>
          <a:p>
            <a:pPr algn="ctr"/>
            <a:r>
              <a:rPr sz="2000" b="1">
                <a:solidFill>
                  <a:srgbClr val="FF6B6B"/>
                </a:solidFill>
                <a:latin typeface="Arial"/>
              </a:rPr>
              <a:t>논문 Table 1</a:t>
            </a:r>
          </a:p>
        </p:txBody>
      </p:sp>
      <p:sp>
        <p:nvSpPr>
          <p:cNvPr id="3" name="TextBox 2"/>
          <p:cNvSpPr txBox="1"/>
          <p:nvPr/>
        </p:nvSpPr>
        <p:spPr>
          <a:xfrm>
            <a:off x="365760" y="1737360"/>
            <a:ext cx="4828032" cy="914400"/>
          </a:xfrm>
          <a:prstGeom prst="rect">
            <a:avLst/>
          </a:prstGeom>
          <a:noFill/>
        </p:spPr>
        <p:txBody>
          <a:bodyPr wrap="square" anchor="ctr">
            <a:spAutoFit/>
          </a:bodyPr>
          <a:lstStyle/>
          <a:p>
            <a:pPr algn="ctr"/>
            <a:r>
              <a:rPr sz="1300" b="0">
                <a:solidFill>
                  <a:srgbClr val="AAAFCD"/>
                </a:solidFill>
                <a:latin typeface="Arial"/>
              </a:rPr>
              <a:t>Comparison of the four core types of microneedles.</a:t>
            </a:r>
          </a:p>
        </p:txBody>
      </p:sp>
      <p:graphicFrame>
        <p:nvGraphicFramePr>
          <p:cNvPr id="4" name="Table 3"/>
          <p:cNvGraphicFramePr>
            <a:graphicFrameLocks noGrp="1"/>
          </p:cNvGraphicFramePr>
          <p:nvPr/>
        </p:nvGraphicFramePr>
        <p:xfrm>
          <a:off x="320040" y="2926080"/>
          <a:ext cx="4919472" cy="2514600"/>
        </p:xfrm>
        <a:graphic>
          <a:graphicData uri="http://schemas.openxmlformats.org/drawingml/2006/table">
            <a:tbl>
              <a:tblPr firstRow="1" bandRow="1">
                <a:tableStyleId>{5C22544A-7EE6-4342-B048-85BDC9FD1C3A}</a:tableStyleId>
              </a:tblPr>
              <a:tblGrid>
                <a:gridCol w="1229868"/>
                <a:gridCol w="1229868"/>
                <a:gridCol w="1229868"/>
                <a:gridCol w="1229868"/>
              </a:tblGrid>
              <a:tr h="502920">
                <a:tc>
                  <a:txBody>
                    <a:bodyPr/>
                    <a:lstStyle/>
                    <a:p>
                      <a:pPr>
                        <a:defRPr sz="1200" b="1">
                          <a:latin typeface="Arial"/>
                        </a:defRPr>
                      </a:pPr>
                      <a:r>
                        <a:t>Type</a:t>
                      </a:r>
                    </a:p>
                  </a:txBody>
                  <a:tcPr/>
                </a:tc>
                <a:tc>
                  <a:txBody>
                    <a:bodyPr/>
                    <a:lstStyle/>
                    <a:p>
                      <a:pPr>
                        <a:defRPr sz="1200" b="1">
                          <a:latin typeface="Arial"/>
                        </a:defRPr>
                      </a:pPr>
                      <a:r>
                        <a:t>Administration Approach</a:t>
                      </a:r>
                    </a:p>
                  </a:txBody>
                  <a:tcPr/>
                </a:tc>
                <a:tc>
                  <a:txBody>
                    <a:bodyPr/>
                    <a:lstStyle/>
                    <a:p>
                      <a:pPr>
                        <a:defRPr sz="1200" b="1">
                          <a:latin typeface="Arial"/>
                        </a:defRPr>
                      </a:pPr>
                      <a:r>
                        <a:t>Delivery Efficiency</a:t>
                      </a:r>
                    </a:p>
                  </a:txBody>
                  <a:tcPr/>
                </a:tc>
                <a:tc>
                  <a:txBody>
                    <a:bodyPr/>
                    <a:lstStyle/>
                    <a:p>
                      <a:pPr>
                        <a:defRPr sz="1200" b="1">
                          <a:latin typeface="Arial"/>
                        </a:defRPr>
                      </a:pPr>
                      <a:r>
                        <a:t>Advantages</a:t>
                      </a:r>
                    </a:p>
                  </a:txBody>
                  <a:tcPr/>
                </a:tc>
              </a:tr>
              <a:tr h="502920">
                <a:tc>
                  <a:txBody>
                    <a:bodyPr/>
                    <a:lstStyle/>
                    <a:p>
                      <a:pPr>
                        <a:defRPr sz="1100" b="0">
                          <a:latin typeface="Arial"/>
                        </a:defRPr>
                      </a:pPr>
                      <a:r>
                        <a:t>Solid MNs</a:t>
                      </a:r>
                    </a:p>
                  </a:txBody>
                  <a:tcPr/>
                </a:tc>
                <a:tc>
                  <a:txBody>
                    <a:bodyPr/>
                    <a:lstStyle/>
                    <a:p>
                      <a:pPr>
                        <a:defRPr sz="1100" b="0">
                          <a:latin typeface="Arial"/>
                        </a:defRPr>
                      </a:pPr>
                      <a:r>
                        <a:t>Poke-patch (two-step)</a:t>
                      </a:r>
                    </a:p>
                  </a:txBody>
                  <a:tcPr/>
                </a:tc>
                <a:tc>
                  <a:txBody>
                    <a:bodyPr/>
                    <a:lstStyle/>
                    <a:p>
                      <a:pPr>
                        <a:defRPr sz="1100" b="0">
                          <a:latin typeface="Arial"/>
                        </a:defRPr>
                      </a:pPr>
                      <a:r>
                        <a:t>Drug loading: +Sustained release: +</a:t>
                      </a:r>
                    </a:p>
                  </a:txBody>
                  <a:tcPr/>
                </a:tc>
                <a:tc>
                  <a:txBody>
                    <a:bodyPr/>
                    <a:lstStyle/>
                    <a:p>
                      <a:pPr>
                        <a:defRPr sz="1100" b="0">
                          <a:latin typeface="Arial"/>
                        </a:defRPr>
                      </a:pPr>
                      <a:r>
                        <a:t>•High mechanical strength and physical s</a:t>
                      </a:r>
                    </a:p>
                  </a:txBody>
                  <a:tcPr/>
                </a:tc>
              </a:tr>
              <a:tr h="502920">
                <a:tc>
                  <a:txBody>
                    <a:bodyPr/>
                    <a:lstStyle/>
                    <a:p>
                      <a:pPr>
                        <a:defRPr sz="1100" b="0">
                          <a:latin typeface="Arial"/>
                        </a:defRPr>
                      </a:pPr>
                      <a:r>
                        <a:t>Hollow MNs</a:t>
                      </a:r>
                    </a:p>
                  </a:txBody>
                  <a:tcPr/>
                </a:tc>
                <a:tc>
                  <a:txBody>
                    <a:bodyPr/>
                    <a:lstStyle/>
                    <a:p>
                      <a:pPr>
                        <a:defRPr sz="1100" b="0">
                          <a:latin typeface="Arial"/>
                        </a:defRPr>
                      </a:pPr>
                      <a:r>
                        <a:t>Poke-flow (continuous injection)</a:t>
                      </a:r>
                    </a:p>
                  </a:txBody>
                  <a:tcPr/>
                </a:tc>
                <a:tc>
                  <a:txBody>
                    <a:bodyPr/>
                    <a:lstStyle/>
                    <a:p>
                      <a:pPr>
                        <a:defRPr sz="1100" b="0">
                          <a:latin typeface="Arial"/>
                        </a:defRPr>
                      </a:pPr>
                      <a:r>
                        <a:t>Drug loading: ++++Sustained release: +++</a:t>
                      </a:r>
                    </a:p>
                  </a:txBody>
                  <a:tcPr/>
                </a:tc>
                <a:tc>
                  <a:txBody>
                    <a:bodyPr/>
                    <a:lstStyle/>
                    <a:p>
                      <a:pPr>
                        <a:defRPr sz="1100" b="0">
                          <a:latin typeface="Arial"/>
                        </a:defRPr>
                      </a:pPr>
                      <a:r>
                        <a:t>•Precise control over dose and infusion </a:t>
                      </a:r>
                    </a:p>
                  </a:txBody>
                  <a:tcPr/>
                </a:tc>
              </a:tr>
              <a:tr h="502920">
                <a:tc>
                  <a:txBody>
                    <a:bodyPr/>
                    <a:lstStyle/>
                    <a:p>
                      <a:pPr>
                        <a:defRPr sz="1100" b="0">
                          <a:latin typeface="Arial"/>
                        </a:defRPr>
                      </a:pPr>
                      <a:r>
                        <a:t>Dissolvable MNs</a:t>
                      </a:r>
                    </a:p>
                  </a:txBody>
                  <a:tcPr/>
                </a:tc>
                <a:tc>
                  <a:txBody>
                    <a:bodyPr/>
                    <a:lstStyle/>
                    <a:p>
                      <a:pPr>
                        <a:defRPr sz="1100" b="0">
                          <a:latin typeface="Arial"/>
                        </a:defRPr>
                      </a:pPr>
                      <a:r>
                        <a:t>Poke-release (dissolution)</a:t>
                      </a:r>
                    </a:p>
                  </a:txBody>
                  <a:tcPr/>
                </a:tc>
                <a:tc>
                  <a:txBody>
                    <a:bodyPr/>
                    <a:lstStyle/>
                    <a:p>
                      <a:pPr>
                        <a:defRPr sz="1100" b="0">
                          <a:latin typeface="Arial"/>
                        </a:defRPr>
                      </a:pPr>
                      <a:r>
                        <a:t>Drug loading: ++++Sustained release: +++</a:t>
                      </a:r>
                    </a:p>
                  </a:txBody>
                  <a:tcPr/>
                </a:tc>
                <a:tc>
                  <a:txBody>
                    <a:bodyPr/>
                    <a:lstStyle/>
                    <a:p>
                      <a:pPr>
                        <a:defRPr sz="1100" b="0">
                          <a:latin typeface="Arial"/>
                        </a:defRPr>
                      </a:pPr>
                      <a:r>
                        <a:t>•One-step application, user-friendly•No </a:t>
                      </a:r>
                    </a:p>
                  </a:txBody>
                  <a:tcPr/>
                </a:tc>
              </a:tr>
              <a:tr h="502920">
                <a:tc>
                  <a:txBody>
                    <a:bodyPr/>
                    <a:lstStyle/>
                    <a:p>
                      <a:pPr>
                        <a:defRPr sz="1100" b="0">
                          <a:latin typeface="Arial"/>
                        </a:defRPr>
                      </a:pPr>
                      <a:r>
                        <a:t>Hydrogel-Forming MNs</a:t>
                      </a:r>
                    </a:p>
                  </a:txBody>
                  <a:tcPr/>
                </a:tc>
                <a:tc>
                  <a:txBody>
                    <a:bodyPr/>
                    <a:lstStyle/>
                    <a:p>
                      <a:pPr>
                        <a:defRPr sz="1100" b="0">
                          <a:latin typeface="Arial"/>
                        </a:defRPr>
                      </a:pPr>
                      <a:r>
                        <a:t>Poke-release (swelling)</a:t>
                      </a:r>
                    </a:p>
                  </a:txBody>
                  <a:tcPr/>
                </a:tc>
                <a:tc>
                  <a:txBody>
                    <a:bodyPr/>
                    <a:lstStyle/>
                    <a:p>
                      <a:pPr>
                        <a:defRPr sz="1100" b="0">
                          <a:latin typeface="Arial"/>
                        </a:defRPr>
                      </a:pPr>
                      <a:r>
                        <a:t>Drug loading: ++++Sustained release: +++</a:t>
                      </a:r>
                    </a:p>
                  </a:txBody>
                  <a:tcPr/>
                </a:tc>
                <a:tc>
                  <a:txBody>
                    <a:bodyPr/>
                    <a:lstStyle/>
                    <a:p>
                      <a:pPr>
                        <a:defRPr sz="1100" b="0">
                          <a:latin typeface="Arial"/>
                        </a:defRPr>
                      </a:pPr>
                      <a:r>
                        <a:t>•Dual functionality: drug delivery and I</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Microneedle (MN) technology offers a minimally invasive local intervention strategy by bypassing the stratum corneum, enhancing follicular exposure, reducing unnecessary systemic distribution, and providing mechanical stimulation to the scalp microenvironment.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Androgenetic alopecia (AGA) is the most prevalent subtype of alopecia, affecting approximately 15–30% of women and up to 50% of men worldwide [,,,].
· Beyond the loss of hair itself, AGA imposes a substantial psychosocial burden, frequently leading to reduced self-esteem, impaired social functioning, and mental health concerns, particularly among adolescents.
· As next-generation transdermal delivery platforms, microneedles can penetrate the stratum corneum in a nearly painless manner, create microchannels, and directly deliver active agents into the dermis [7,21,22,,,].</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Core microneedle types and design</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The principal limitations of solid MNs include their two-step workflow—puncture followed by topical administration—and limited dose-control capability, which constrain their clinical utility [29,,,].
· Representative materials, applicable MN types, key design features, AGA application potential, and major limitations are summarized in Table 2.Table 2Summary of material characteristics for AGA-oriented microneedles.Table 2MN typeRepresentative materialsKey material characteristicsAGA-oriented design rationaleSuitable cargoes or usesMain limitations of the AGA applicationRef.Solid MNsStainless steel, titanium, silicon, ceramics, rigid resins, PMMA, PLAHigh modulus, strong puncture ability, dimensional stability, fracture resistance, and limited intrinsic drug-loading capacitySuitable for reproducible scalp microporation and mechanical stimulation; may enhance subsequent penetration of topical or nanocarrier formulations and activate wound-healing-related signals involved in hair cyclingPretreatment before topical minoxidil/finasteride, mechanical stimulation, and permeability enhancement for anti-inflammatory agents or nanoformulationsTwo-step administration; limited drug loading and release control; dose affected by microchannel closure, formulation spreading, hair shafts, sebum, and scalp contact; possible irritation or fracture riskHollow MNsStainless steel, silicon, rigid resins, high-strength polymers, ceramicsLumen-containing structure, high wall stiffness, tip sharpness, infusion compatibility, pressure-driven deliverySuitable when controlled intradermal infusion is needed; can reduce surface drug loss and deliver liquid or higher-dose formulations closer to follicular regionsLiquid formulations; growth factors; JAK inhibitors; extracellular vesicles; nanoparticle suspensions; relatively high-dose agentsComplex fabrication; lumen blockage by viscous formulations, particles, vesicle aggregation, or compressed scalp tissue; risk of leakage, backflow, and uneven infusionDissolvable MNsHA, PVP, gelatin, chitosan, sodium alginate, sodium hyaluronate, starch-based polymers, PVA blendsHydrophilic, biodegradable, drug-loaded needle matrix, hydration-triggered dissolution, tip-localized loading, tunable dissolution by polymer compositionSuitable for one-step follicular deposition; reduces drug loss on scalp surface and improves localization around follicular units; useful for repeated outpatient or self-administered AGA therapyMinoxidil; finasteride; JAK inhibitors; phytochemicals; peptides; nucleic acids; liposomes; polymeric nanoparticles; LPNsLower dry-state strength than rigid MNs; humidity-sensitive storage; release affected by hydration and local interstitial fluid; overly fast dissolution may cause superficial release, whereas slow dissolution may delay perifollicular exposureHydrogel MNsHA/HAMA, PVA, PEG/PEGDA, GelMA, alginate, collagen, silk fibroin, PMVE/MACrosslinked polymer network, dry-state insertion strength, post-insertion swelling, hydrated diffusion pathways, tunable mesh size, and release behaviorSuitable for sustained local exposure and long-acting AGA therapy; can prolong retention near follicular niches and potentially reduce dosing frequencyVEGF; growth factors; JAK inhibitors; immunomodulators; exosomes; nanoparticle formulations; sustained delivery systemsRequires a balance between crosslinking, strength, swelling, and diffusion; excessive crosslinking may restrict release, insufficient crosslinking may cause weak insertion, leakage, or inconsistent residence time; more demanding quality control[54,70,,,,]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Core MN-mediated therapeutic strategies for hair regeneration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Machine-learning-aided discovery identified a manganese thiophosphate (MnPS3) superoxide dismutase (SOD) mimic with an IC50 of 3.61 μg mL−1—12-fold lower than most reported SOD-like nanozymes.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Design and optimization of multi-drug combination delivery</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The minoxidil-spironolactone group had a 6.7% non-response rate, compared to 16.7% in the minoxidil-finasteride group; 56.7% of patients in the minoxidil-spironolactone group achieved an excellent treatment outcome, versus 0% in the minoxidil-finasteride group, a statistically significant difference (p = 0.01).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Core features of intelligent stimulus-responsive MN systems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Copyright 2019, American Chemical Society.Fig. 7Schematic illustration of the mechanisms of intelligent stimulus-responsive microneedle systems.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Closed-loop systems and real-time monitoring</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Copyright 2025, Journal of Nanobiotechnology.
· Copyright 2025, Journal of Nanobiotechnology.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고찰 — Current limitations, translational challenges, and future research directions of microneedle-mediated hair regeneration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Still, they should also characterize post-fabrication potency, batch-to-batch variability, residual bioactivity after storage, and degradation pathways [106,112,,,,].
· Still, they should be designed around scalp anatomy, hair density, follicular target depth, disease stage, payload properties, dosing frequency, and intended treatment duration [83,193,,,].
· For AGA, this means developing scalp-adapted backing layers, applicators capable of separating hair shafts or overcoming hair interference, needle lengths suitable for perifollicular deposition, moisture-protective packaging, and formulations suitable for repeated use in outpatient or home settings [14.79,202-204].
· Only through such a staged pathway can MN-based hair regeneration technologies progress from promising laboratory systems to practical, scalable, and safe therapeutic options for alopecia [14,83,193,,,].</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Conclusions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This review summarizes recent advances in MN-mediated intelligent combination delivery systems for hair regeneration, with a particular focus on how MN platforms integrate material design, follicular delivery, therapeutic synergy, stimuli responsiveness, and closed-loop regulation.
· Compared with conventional topical or systemic therapies, MNs provide a unique therapeutic interface for alopecia treatment: they can not only bypass the stratum corneum barrier, enhance local follicular exposure, and reduce unnecessary systemic distribution, but also activate wound-repair and regeneration-related signaling through mechanical stimulation.
· As highlighted in this review, MN-based strategies have evolved from simple penetration-enhancing tools into multifunctional platforms capable of delivering small-molecule drugs, natural products, biologics, extracellular vesicles, nanozymes, growth factors, collagen-related components, and physical stimuli to the follicular microenvironment.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CRediT authorship contribution statement</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Liang Lan: Writing – original draft, Visualization, Conceptualization.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Microneedle-mediated intelligent combination delivery for hair regeneration: A comprehensive review of technologies, mechanistic evidence, and translational prospects
게재: Materials today. Bio
원문: https://pubmed.ncbi.nlm.nih.gov/42750717/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[논문 본문 그림·표]
- PubMed Central PMC13577838 (재사용 가능 라이선스)
  https://www.ncbi.nlm.nih.gov/pmc/articles/PMC13577838/
  · Table 1
  ※ 오픈액세스 논문의 그림·표이며, 위 원문 출처를 함께 표기하세요.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