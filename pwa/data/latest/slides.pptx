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5559552" cy="987552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약 4초</a:t>
            </a:r>
          </a:p>
          <a:p>
            <a:r>
              <a:t>대본: 50% 이 숫자, 탈모 연구가 새로 내놨습니다</a:t>
            </a:r>
          </a:p>
          <a:p>
            <a:r>
              <a:t>연출 노트: 0.5초 안에 스크롤을 멈추게 하는 구간. 숫자를 크게 읽어준다.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[paper_intro] 약 8초</a:t>
            </a:r>
          </a:p>
          <a:p>
            <a:r>
              <a:t>대본: 《Dermatology research and practice》 - Double Challenges for Scalp Health: A Review of the Pathogenesis and Treatment Strategies of Coexistence of Seborrheic Dermatitis and Androgenetic Alopecia</a:t>
            </a:r>
          </a:p>
          <a:p>
            <a:r>
              <a:t>연출 노트: 출처를 분명히 밝혀 신뢰를 준다.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[key_finding_1] 약 10초</a:t>
            </a:r>
          </a:p>
          <a:p>
            <a:r>
              <a:t>대본: Androgenetic alopecia (AGA) and seborrheic dermatitis (SD) are two common scalp disorders that frequently impair the quality of life and may coexist in a subset of patients across all genders.</a:t>
            </a:r>
          </a:p>
          <a:p>
            <a:r>
              <a:t>연출 노트: 핵심 포인트 1. 자막을 끊어 읽는다.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[key_finding_2] 약 10초</a:t>
            </a:r>
          </a:p>
          <a:p>
            <a:r>
              <a:t>대본: SD presents in 40%-50% of all patients diagnosed with AGA.</a:t>
            </a:r>
          </a:p>
          <a:p>
            <a:r>
              <a:t>연출 노트: 핵심 포인트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[my_take] 약 10초</a:t>
            </a:r>
          </a:p>
          <a:p>
            <a:r>
              <a:t>대본: 탈모 연구, 매일 쉽게 정리해드립니다 🙂</a:t>
            </a:r>
          </a:p>
          <a:p>
            <a:r>
              <a:t>연출 노트: 본인 사진 + 코멘트. 문구를 직접 바꿔 쓰세요.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약 8초</a:t>
            </a:r>
          </a:p>
          <a:p>
            <a:r>
              <a:t>대본: 더 자세한 내용은 원문 링크에서 확인하세요. 매일 새로운 탈모 연구, 팔로우하고 놓치지 마세요!</a:t>
            </a:r>
          </a:p>
          <a:p>
            <a:r>
              <a:t>연출 노트: 원문 링크는 고정 댓글로 안내.</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편집 참고용 슬라이드입니다. 영상에는 쓰지 않아도 됩니다.</a:t>
            </a:r>
          </a:p>
          <a:p>
            <a:r>
              <a:t>원문 영어 문장을 그대로 발췌했으므로 번역·검수 후 사용하세요.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extBox 1"/>
          <p:cNvSpPr txBox="1"/>
          <p:nvPr/>
        </p:nvSpPr>
        <p:spPr>
          <a:xfrm>
            <a:off x="365760" y="1371600"/>
            <a:ext cx="4828032" cy="457200"/>
          </a:xfrm>
          <a:prstGeom prst="rect">
            <a:avLst/>
          </a:prstGeom>
          <a:noFill/>
        </p:spPr>
        <p:txBody>
          <a:bodyPr wrap="square" anchor="ctr">
            <a:spAutoFit/>
          </a:bodyPr>
          <a:lstStyle/>
          <a:p>
            <a:pPr algn="ctr"/>
            <a:r>
              <a:rPr sz="1400" b="1">
                <a:solidFill>
                  <a:srgbClr val="FF6B6B"/>
                </a:solidFill>
                <a:latin typeface="Arial"/>
              </a:rPr>
              <a:t>DERMATOLOGY RESEARCH AND PRACTICE</a:t>
            </a:r>
          </a:p>
        </p:txBody>
      </p:sp>
      <p:sp>
        <p:nvSpPr>
          <p:cNvPr id="3" name="TextBox 2"/>
          <p:cNvSpPr txBox="1"/>
          <p:nvPr/>
        </p:nvSpPr>
        <p:spPr>
          <a:xfrm>
            <a:off x="274320" y="3108960"/>
            <a:ext cx="5010912" cy="2011680"/>
          </a:xfrm>
          <a:prstGeom prst="rect">
            <a:avLst/>
          </a:prstGeom>
          <a:noFill/>
        </p:spPr>
        <p:txBody>
          <a:bodyPr wrap="square" anchor="ctr">
            <a:spAutoFit/>
          </a:bodyPr>
          <a:lstStyle/>
          <a:p>
            <a:pPr algn="ctr"/>
            <a:r>
              <a:rPr sz="8000" b="1">
                <a:solidFill>
                  <a:srgbClr val="FF6B6B"/>
                </a:solidFill>
                <a:latin typeface="Arial"/>
              </a:rPr>
              <a:t>50%</a:t>
            </a:r>
          </a:p>
        </p:txBody>
      </p:sp>
      <p:sp>
        <p:nvSpPr>
          <p:cNvPr id="4" name="TextBox 3"/>
          <p:cNvSpPr txBox="1"/>
          <p:nvPr/>
        </p:nvSpPr>
        <p:spPr>
          <a:xfrm>
            <a:off x="457200" y="5394960"/>
            <a:ext cx="4645152" cy="1463040"/>
          </a:xfrm>
          <a:prstGeom prst="rect">
            <a:avLst/>
          </a:prstGeom>
          <a:noFill/>
        </p:spPr>
        <p:txBody>
          <a:bodyPr wrap="square" anchor="ctr">
            <a:spAutoFit/>
          </a:bodyPr>
          <a:lstStyle/>
          <a:p>
            <a:pPr algn="ctr"/>
            <a:r>
              <a:rPr sz="2800" b="1">
                <a:solidFill>
                  <a:srgbClr val="FFFFFF"/>
                </a:solidFill>
                <a:latin typeface="Arial"/>
              </a:rPr>
              <a:t>이 숫자, 탈모 연구가 새로 내놨습니다</a:t>
            </a:r>
          </a:p>
        </p:txBody>
      </p:sp>
      <p:sp>
        <p:nvSpPr>
          <p:cNvPr id="5" name="TextBox 4"/>
          <p:cNvSpPr txBox="1"/>
          <p:nvPr/>
        </p:nvSpPr>
        <p:spPr>
          <a:xfrm>
            <a:off x="365760" y="8778240"/>
            <a:ext cx="4828032" cy="457200"/>
          </a:xfrm>
          <a:prstGeom prst="rect">
            <a:avLst/>
          </a:prstGeom>
          <a:noFill/>
        </p:spPr>
        <p:txBody>
          <a:bodyPr wrap="square" anchor="ctr">
            <a:spAutoFit/>
          </a:bodyPr>
          <a:lstStyle/>
          <a:p>
            <a:pPr algn="ctr"/>
            <a:r>
              <a:rPr sz="1200" b="0">
                <a:solidFill>
                  <a:srgbClr val="AAAFCD"/>
                </a:solidFill>
                <a:latin typeface="Arial"/>
              </a:rPr>
              <a:t>2026  |  매일 아침 탈모 연구 한 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paper_card.png"/>
          <p:cNvPicPr>
            <a:picLocks noChangeAspect="1"/>
          </p:cNvPicPr>
          <p:nvPr/>
        </p:nvPicPr>
        <p:blipFill>
          <a:blip r:embed="rId2"/>
          <a:stretch>
            <a:fillRect/>
          </a:stretch>
        </p:blipFill>
        <p:spPr>
          <a:xfrm>
            <a:off x="502920" y="822960"/>
            <a:ext cx="4553712" cy="8095488"/>
          </a:xfrm>
          <a:prstGeom prst="rect">
            <a:avLst/>
          </a:prstGeom>
        </p:spPr>
      </p:pic>
      <p:sp>
        <p:nvSpPr>
          <p:cNvPr id="3" name="TextBox 2"/>
          <p:cNvSpPr txBox="1"/>
          <p:nvPr/>
        </p:nvSpPr>
        <p:spPr>
          <a:xfrm>
            <a:off x="365760" y="6766560"/>
            <a:ext cx="4828032" cy="1828800"/>
          </a:xfrm>
          <a:prstGeom prst="rect">
            <a:avLst/>
          </a:prstGeom>
          <a:noFill/>
        </p:spPr>
        <p:txBody>
          <a:bodyPr wrap="square" anchor="ctr">
            <a:spAutoFit/>
          </a:bodyPr>
          <a:lstStyle/>
          <a:p>
            <a:pPr algn="ctr"/>
            <a:r>
              <a:rPr sz="2000" b="1">
                <a:solidFill>
                  <a:srgbClr val="FFFFFF"/>
                </a:solidFill>
                <a:latin typeface="Arial"/>
              </a:rPr>
              <a:t>Double Challenges for Scalp Health: A Review of the Pathogenesis and Treatment Strategies of Coexistence of Seborrheic Dermatitis and Androgenetic Alopecia</a:t>
            </a:r>
          </a:p>
        </p:txBody>
      </p:sp>
      <p:sp>
        <p:nvSpPr>
          <p:cNvPr id="4" name="TextBox 3"/>
          <p:cNvSpPr txBox="1"/>
          <p:nvPr/>
        </p:nvSpPr>
        <p:spPr>
          <a:xfrm>
            <a:off x="365760" y="8595360"/>
            <a:ext cx="4828032" cy="548640"/>
          </a:xfrm>
          <a:prstGeom prst="rect">
            <a:avLst/>
          </a:prstGeom>
          <a:noFill/>
        </p:spPr>
        <p:txBody>
          <a:bodyPr wrap="square" anchor="ctr">
            <a:spAutoFit/>
          </a:bodyPr>
          <a:lstStyle/>
          <a:p>
            <a:pPr algn="ctr"/>
            <a:r>
              <a:rPr sz="1300" b="0">
                <a:solidFill>
                  <a:srgbClr val="AAAFCD"/>
                </a:solidFill>
                <a:latin typeface="Arial"/>
              </a:rPr>
              <a:t>Dermatology research and practice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topic_1.jpg"/>
          <p:cNvPicPr>
            <a:picLocks noChangeAspect="1"/>
          </p:cNvPicPr>
          <p:nvPr/>
        </p:nvPicPr>
        <p:blipFill>
          <a:blip r:embed="rId2"/>
          <a:stretch>
            <a:fillRect/>
          </a:stretch>
        </p:blipFill>
        <p:spPr>
          <a:xfrm>
            <a:off x="-3067027" y="0"/>
            <a:ext cx="11693607" cy="9875520"/>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Androgenetic alopecia (AGA) and seborrheic dermatitis (SD) are two common scalp disorders that frequently impair the quality of life and may coexist in a subset of patients across all genders.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topic_2.jpg"/>
          <p:cNvPicPr>
            <a:picLocks noChangeAspect="1"/>
          </p:cNvPicPr>
          <p:nvPr/>
        </p:nvPicPr>
        <p:blipFill>
          <a:blip r:embed="rId2"/>
          <a:stretch>
            <a:fillRect/>
          </a:stretch>
        </p:blipFill>
        <p:spPr>
          <a:xfrm>
            <a:off x="-923544" y="0"/>
            <a:ext cx="7406640" cy="9875520"/>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SD presents in 40%-50% of all patients diagnosed with AGA.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pic>
        <p:nvPicPr>
          <p:cNvPr id="2" name="Picture 1" descr="latest.jpg"/>
          <p:cNvPicPr>
            <a:picLocks noChangeAspect="1"/>
          </p:cNvPicPr>
          <p:nvPr/>
        </p:nvPicPr>
        <p:blipFill>
          <a:blip r:embed="rId2"/>
          <a:stretch>
            <a:fillRect/>
          </a:stretch>
        </p:blipFill>
        <p:spPr>
          <a:xfrm>
            <a:off x="0" y="-4064"/>
            <a:ext cx="5559552" cy="9883648"/>
          </a:xfrm>
          <a:prstGeom prst="rect">
            <a:avLst/>
          </a:prstGeom>
        </p:spPr>
      </p:pic>
      <p:sp>
        <p:nvSpPr>
          <p:cNvPr id="3" name="Rectangle 2"/>
          <p:cNvSpPr/>
          <p:nvPr/>
        </p:nvSpPr>
        <p:spPr>
          <a:xfrm>
            <a:off x="0" y="6122822"/>
            <a:ext cx="5559552" cy="37526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00"/>
            <a:ext cx="4828032" cy="2926080"/>
          </a:xfrm>
          <a:prstGeom prst="rect">
            <a:avLst/>
          </a:prstGeom>
          <a:noFill/>
        </p:spPr>
        <p:txBody>
          <a:bodyPr wrap="square" anchor="ctr">
            <a:spAutoFit/>
          </a:bodyPr>
          <a:lstStyle/>
          <a:p>
            <a:pPr algn="ctr"/>
            <a:r>
              <a:rPr sz="2200" b="1">
                <a:solidFill>
                  <a:srgbClr val="FFFFFF"/>
                </a:solidFill>
                <a:latin typeface="Arial"/>
              </a:rPr>
              <a:t>탈모 연구, 매일 쉽게 정리해드립니다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extBox 1"/>
          <p:cNvSpPr txBox="1"/>
          <p:nvPr/>
        </p:nvSpPr>
        <p:spPr>
          <a:xfrm>
            <a:off x="457200" y="3474720"/>
            <a:ext cx="4645152" cy="2743200"/>
          </a:xfrm>
          <a:prstGeom prst="rect">
            <a:avLst/>
          </a:prstGeom>
          <a:noFill/>
        </p:spPr>
        <p:txBody>
          <a:bodyPr wrap="square" anchor="ctr">
            <a:spAutoFit/>
          </a:bodyPr>
          <a:lstStyle/>
          <a:p>
            <a:pPr algn="ctr"/>
            <a:r>
              <a:rPr sz="3400" b="1">
                <a:solidFill>
                  <a:srgbClr val="FFFFFF"/>
                </a:solidFill>
                <a:latin typeface="Arial"/>
              </a:rPr>
              <a:t>더 자세한 내용은 원문 링크에서 확인하세요. 매일 새로운 탈모 연구, 팔로우하고 놓치지 마세요!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배경 — 1. Introduction</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Seborrheic dermatitis (SD) is a common, recurrent, chronic inflammatory skin disease that predominantly affects sebaceous gland‐rich areas, particularly the scalp, and is characterized by yellow‐red patches covered with greasy, yellowish scales or crusts and varying degrees of pruritus.
· Androgenetic alopecia (AGA), formerly known as seborrheic alopecia, is a progressive androgen‐dependent disorder characterized by hair follicle miniaturization with a typical patterned distribution.
· Although SD and AGA are distinct conditions, both exhibit high prevalence and incidence rates, with a predilection for young adults and older men.</a:t>
            </a:r>
          </a:p>
        </p:txBody>
      </p:sp>
      <p:sp>
        <p:nvSpPr>
          <p:cNvPr id="5" name="TextBox 4"/>
          <p:cNvSpPr txBox="1"/>
          <p:nvPr/>
        </p:nvSpPr>
        <p:spPr>
          <a:xfrm>
            <a:off x="365760" y="5303520"/>
            <a:ext cx="4828032" cy="457200"/>
          </a:xfrm>
          <a:prstGeom prst="rect">
            <a:avLst/>
          </a:prstGeom>
          <a:noFill/>
        </p:spPr>
        <p:txBody>
          <a:bodyPr wrap="square" anchor="t">
            <a:spAutoFit/>
          </a:bodyPr>
          <a:lstStyle/>
          <a:p>
            <a:pPr algn="l"/>
            <a:r>
              <a:rPr sz="1300" b="1">
                <a:solidFill>
                  <a:srgbClr val="FFFFFF"/>
                </a:solidFill>
                <a:latin typeface="Arial"/>
              </a:rPr>
              <a:t>◆ 그 밖의 내용 — 2. Clinical and Epidemiological Overlap Between SD and AGA</a:t>
            </a:r>
          </a:p>
        </p:txBody>
      </p:sp>
      <p:sp>
        <p:nvSpPr>
          <p:cNvPr id="6" name="TextBox 5"/>
          <p:cNvSpPr txBox="1"/>
          <p:nvPr/>
        </p:nvSpPr>
        <p:spPr>
          <a:xfrm>
            <a:off x="457200" y="5806440"/>
            <a:ext cx="4736592" cy="3566160"/>
          </a:xfrm>
          <a:prstGeom prst="rect">
            <a:avLst/>
          </a:prstGeom>
          <a:noFill/>
        </p:spPr>
        <p:txBody>
          <a:bodyPr wrap="square" anchor="t">
            <a:spAutoFit/>
          </a:bodyPr>
          <a:lstStyle/>
          <a:p>
            <a:pPr algn="l"/>
            <a:r>
              <a:rPr sz="1000" b="0">
                <a:solidFill>
                  <a:srgbClr val="D5D8EA"/>
                </a:solidFill>
                <a:latin typeface="Arial"/>
              </a:rPr>
              <a:t>· In a study by Jang et al. involving 1218 patients with AGA, SD was the most common concomitant disease in both sexes, with a prevalence of 51.2% in men and 45.7% in women.
· Another study reported an SD prevalence of 42.1% among patients with AGA, with both prevalence and severity scores increasing in parallel with AGA severity.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그 밖의 내용 — 3. Mechanism of Association Between SD and AGA</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Evidence from the UK Biobank and twin studies has confirmed that the heritability of AGA in males is estimated at 62%–80%.</a:t>
            </a:r>
          </a:p>
        </p:txBody>
      </p:sp>
      <p:sp>
        <p:nvSpPr>
          <p:cNvPr id="5" name="TextBox 4"/>
          <p:cNvSpPr txBox="1"/>
          <p:nvPr/>
        </p:nvSpPr>
        <p:spPr>
          <a:xfrm>
            <a:off x="365760" y="5303520"/>
            <a:ext cx="4828032" cy="457200"/>
          </a:xfrm>
          <a:prstGeom prst="rect">
            <a:avLst/>
          </a:prstGeom>
          <a:noFill/>
        </p:spPr>
        <p:txBody>
          <a:bodyPr wrap="square" anchor="t">
            <a:spAutoFit/>
          </a:bodyPr>
          <a:lstStyle/>
          <a:p>
            <a:pPr algn="l"/>
            <a:r>
              <a:rPr sz="1300" b="1">
                <a:solidFill>
                  <a:srgbClr val="FFFFFF"/>
                </a:solidFill>
                <a:latin typeface="Arial"/>
              </a:rPr>
              <a:t>◆ 그 밖의 내용 — 4. Integrated Mechanism of SD–AGA Coexistence</a:t>
            </a:r>
          </a:p>
        </p:txBody>
      </p:sp>
      <p:sp>
        <p:nvSpPr>
          <p:cNvPr id="6" name="TextBox 5"/>
          <p:cNvSpPr txBox="1"/>
          <p:nvPr/>
        </p:nvSpPr>
        <p:spPr>
          <a:xfrm>
            <a:off x="457200" y="5806440"/>
            <a:ext cx="4736592" cy="3566160"/>
          </a:xfrm>
          <a:prstGeom prst="rect">
            <a:avLst/>
          </a:prstGeom>
          <a:noFill/>
        </p:spPr>
        <p:txBody>
          <a:bodyPr wrap="square" anchor="t">
            <a:spAutoFit/>
          </a:bodyPr>
          <a:lstStyle/>
          <a:p>
            <a:pPr algn="l"/>
            <a:r>
              <a:rPr sz="1000" b="0">
                <a:solidFill>
                  <a:srgbClr val="D5D8EA"/>
                </a:solidFill>
                <a:latin typeface="Arial"/>
              </a:rPr>
              <a:t>· Based on the aforementioned information, we have summarized the coexistence mechanism between SD and AGA.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457200"/>
            <a:ext cx="4828032" cy="457200"/>
          </a:xfrm>
          <a:prstGeom prst="rect">
            <a:avLst/>
          </a:prstGeom>
          <a:noFill/>
        </p:spPr>
        <p:txBody>
          <a:bodyPr wrap="square" anchor="ctr">
            <a:spAutoFit/>
          </a:bodyPr>
          <a:lstStyle/>
          <a:p>
            <a:pPr algn="l"/>
            <a:r>
              <a:rPr sz="1600" b="1">
                <a:solidFill>
                  <a:srgbClr val="FF6B6B"/>
                </a:solidFill>
                <a:latin typeface="Arial"/>
              </a:rPr>
              <a:t>본문 요약 (편집용)</a:t>
            </a:r>
          </a:p>
        </p:txBody>
      </p:sp>
      <p:sp>
        <p:nvSpPr>
          <p:cNvPr id="3" name="TextBox 2"/>
          <p:cNvSpPr txBox="1"/>
          <p:nvPr/>
        </p:nvSpPr>
        <p:spPr>
          <a:xfrm>
            <a:off x="365760" y="1097280"/>
            <a:ext cx="4828032" cy="457200"/>
          </a:xfrm>
          <a:prstGeom prst="rect">
            <a:avLst/>
          </a:prstGeom>
          <a:noFill/>
        </p:spPr>
        <p:txBody>
          <a:bodyPr wrap="square" anchor="t">
            <a:spAutoFit/>
          </a:bodyPr>
          <a:lstStyle/>
          <a:p>
            <a:pPr algn="l"/>
            <a:r>
              <a:rPr sz="1300" b="1">
                <a:solidFill>
                  <a:srgbClr val="FFFFFF"/>
                </a:solidFill>
                <a:latin typeface="Arial"/>
              </a:rPr>
              <a:t>◆ 그 밖의 내용 — 5. Comprehensive Treatment Strategies Based on Target Synergy and Prospects</a:t>
            </a:r>
          </a:p>
        </p:txBody>
      </p:sp>
      <p:sp>
        <p:nvSpPr>
          <p:cNvPr id="4" name="TextBox 3"/>
          <p:cNvSpPr txBox="1"/>
          <p:nvPr/>
        </p:nvSpPr>
        <p:spPr>
          <a:xfrm>
            <a:off x="457200" y="1600200"/>
            <a:ext cx="4736592" cy="3566160"/>
          </a:xfrm>
          <a:prstGeom prst="rect">
            <a:avLst/>
          </a:prstGeom>
          <a:noFill/>
        </p:spPr>
        <p:txBody>
          <a:bodyPr wrap="square" anchor="t">
            <a:spAutoFit/>
          </a:bodyPr>
          <a:lstStyle/>
          <a:p>
            <a:pPr algn="l"/>
            <a:r>
              <a:rPr sz="1000" b="0">
                <a:solidFill>
                  <a:srgbClr val="D5D8EA"/>
                </a:solidFill>
                <a:latin typeface="Arial"/>
              </a:rPr>
              <a:t>· One study reported that daily use of a 1% zinc pyrithione shampoo for 26 weeks resulted in moderate and sustained improvement in hair growth.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42A"/>
        </a:solidFill>
        <a:effectLst/>
      </p:bgPr>
    </p:bg>
    <p:spTree>
      <p:nvGrpSpPr>
        <p:cNvPr id="1" name=""/>
        <p:cNvGrpSpPr/>
        <p:nvPr/>
      </p:nvGrpSpPr>
      <p:grpSpPr/>
      <p:sp>
        <p:nvSpPr>
          <p:cNvPr id="2" name="TextBox 1"/>
          <p:cNvSpPr txBox="1"/>
          <p:nvPr/>
        </p:nvSpPr>
        <p:spPr>
          <a:xfrm>
            <a:off x="365760" y="731520"/>
            <a:ext cx="4828032" cy="548640"/>
          </a:xfrm>
          <a:prstGeom prst="rect">
            <a:avLst/>
          </a:prstGeom>
          <a:noFill/>
        </p:spPr>
        <p:txBody>
          <a:bodyPr wrap="square" anchor="ctr">
            <a:spAutoFit/>
          </a:bodyPr>
          <a:lstStyle/>
          <a:p>
            <a:pPr algn="ctr"/>
            <a:r>
              <a:rPr sz="2200" b="1">
                <a:solidFill>
                  <a:srgbClr val="FF6B6B"/>
                </a:solidFill>
                <a:latin typeface="Arial"/>
              </a:rPr>
              <a:t>출처</a:t>
            </a:r>
          </a:p>
        </p:txBody>
      </p:sp>
      <p:sp>
        <p:nvSpPr>
          <p:cNvPr id="3" name="TextBox 2"/>
          <p:cNvSpPr txBox="1"/>
          <p:nvPr/>
        </p:nvSpPr>
        <p:spPr>
          <a:xfrm>
            <a:off x="365760" y="1463040"/>
            <a:ext cx="4828032" cy="7680960"/>
          </a:xfrm>
          <a:prstGeom prst="rect">
            <a:avLst/>
          </a:prstGeom>
          <a:noFill/>
        </p:spPr>
        <p:txBody>
          <a:bodyPr wrap="square" anchor="t">
            <a:spAutoFit/>
          </a:bodyPr>
          <a:lstStyle/>
          <a:p>
            <a:pPr algn="l"/>
            <a:r>
              <a:rPr sz="1000" b="0">
                <a:solidFill>
                  <a:srgbClr val="D5D8EA"/>
                </a:solidFill>
                <a:latin typeface="Arial"/>
              </a:rPr>
              <a:t>[출처]
논문: Double Challenges for Scalp Health: A Review of the Pathogenesis and Treatment Strategies of Coexistence of Seborrheic Dermatitis and Androgenetic Alopecia
게재: Dermatology research and practice
원문: https://pubmed.ncbi.nlm.nih.gov/42857554/
[이미지 출처]
- Male pattern baldness.jpg / Originally uploaded by Lkinkade (Transferred by XenonX3) / CC BY-SA 2.5
  https://commons.wikimedia.org/wiki/File:Male_pattern_baldness.jpg
- Male-pattern hair loss.jpg / BlaiserPascal / CC BY-SA 4.0
  https://commons.wikimedia.org/wiki/File:Male-pattern_hair_loss.jpg
※ CC BY-SA 이미지가 포함되어 있습니다. 저작자 표시가 필수이며,
  동일조건변경허락(ShareAlike) 조항이 영상 전체에 적용될 수 있으니
  상업적 이용 시 해당 이미지를 교체하는 편이 안전합니다.
[논문 본문 그림·표]
- PubMed Central PMC13650735 (재사용 가능 라이선스)
  https://www.ncbi.nlm.nih.gov/pmc/articles/PMC13650735/
  ※ 오픈액세스 논문의 그림·표이며, 위 원문 출처를 함께 표기하세요.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