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5559552" cy="987552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약 4초</a:t>
            </a:r>
          </a:p>
          <a:p>
            <a:r>
              <a:t>대본: 오늘 새로 나온 탈모 연구, 이거 안 보면 손해입니다.</a:t>
            </a:r>
          </a:p>
          <a:p>
            <a:r>
              <a:t>연출 노트: 가장 임팩트 있는 한 줄. 시청 유지율의 핵심 구간.</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[paper_intro] 약 9초</a:t>
            </a:r>
          </a:p>
          <a:p>
            <a:r>
              <a:t>대본: 《International journal of cosmetic science》 - New insights from data analysis of 12 global clinical studies on hair shedding</a:t>
            </a:r>
          </a:p>
          <a:p>
            <a:r>
              <a:t>연출 노트: 오늘 다룰 논문/기사 표지 카드 노출 + 출처 소개</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[key_finding_1] 약 12초</a:t>
            </a:r>
          </a:p>
          <a:p>
            <a:r>
              <a:t>대본: This research analysed 12 clinical studies involving 805 participants (323 males and 482 females) across eight countries (China, Indonesia, UK, India, Brazil, Thailand, Turkey and US) with concerns about hair loss.</a:t>
            </a:r>
          </a:p>
          <a:p>
            <a:r>
              <a:t>연출 노트: 핵심 포인트 1 - 주제 관련 이미지 배경 + 자막 오버레이</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[key_finding_2] 약 12초</a:t>
            </a:r>
          </a:p>
          <a:p>
            <a:r>
              <a:t>대본: Across the three recent Asian studies, whilst total hair fall comprised both shed hairs from the root (exogen hairs with a typical club end) and broken hairs, shed hairs from the root represented the predominant proportion, accounting for an average of 96.5% of total hair fall in Chinese female participants, 98.8% in Chinese male participants, and 72.2% in Indonesian female participants.</a:t>
            </a:r>
          </a:p>
          <a:p>
            <a:r>
              <a:t>연출 노트: 핵심 포인트 2 (없으면 이 씬 스킵)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[my_take] 약 12초</a:t>
            </a:r>
          </a:p>
          <a:p>
            <a:r>
              <a:t>대본: 본인 코멘트를 자유롭게 추가하세요.</a:t>
            </a:r>
          </a:p>
          <a:p>
            <a:r>
              <a:t>연출 노트: 본인 사진 + 한마디 코멘트. assets/my-photo/latest.jpg 로 직접 교체.</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약 9초</a:t>
            </a:r>
          </a:p>
          <a:p>
            <a:r>
              <a:t>대본: 더 자세한 내용은 원문 링크에서 확인하세요. 매일 새로운 탈모 연구, 팔로우하고 놓치지 마세요!</a:t>
            </a:r>
          </a:p>
          <a:p>
            <a:r>
              <a:t>연출 노트: 구독/팔로우 유도 + 원문 링크는 고정 댓글 안내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rame_01_hook.png"/>
          <p:cNvPicPr>
            <a:picLocks noChangeAspect="1"/>
          </p:cNvPicPr>
          <p:nvPr/>
        </p:nvPicPr>
        <p:blipFill>
          <a:blip r:embed="rId2"/>
          <a:stretch>
            <a:fillRect/>
          </a:stretch>
        </p:blipFill>
        <p:spPr>
          <a:xfrm>
            <a:off x="0" y="0"/>
            <a:ext cx="5559552" cy="98755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rame_02_paper_intro.png"/>
          <p:cNvPicPr>
            <a:picLocks noChangeAspect="1"/>
          </p:cNvPicPr>
          <p:nvPr/>
        </p:nvPicPr>
        <p:blipFill>
          <a:blip r:embed="rId2"/>
          <a:stretch>
            <a:fillRect/>
          </a:stretch>
        </p:blipFill>
        <p:spPr>
          <a:xfrm>
            <a:off x="0" y="0"/>
            <a:ext cx="5559552" cy="987552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rame_03_key_finding_1.png"/>
          <p:cNvPicPr>
            <a:picLocks noChangeAspect="1"/>
          </p:cNvPicPr>
          <p:nvPr/>
        </p:nvPicPr>
        <p:blipFill>
          <a:blip r:embed="rId2"/>
          <a:stretch>
            <a:fillRect/>
          </a:stretch>
        </p:blipFill>
        <p:spPr>
          <a:xfrm>
            <a:off x="0" y="0"/>
            <a:ext cx="5559552" cy="98755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rame_04_key_finding_2.png"/>
          <p:cNvPicPr>
            <a:picLocks noChangeAspect="1"/>
          </p:cNvPicPr>
          <p:nvPr/>
        </p:nvPicPr>
        <p:blipFill>
          <a:blip r:embed="rId2"/>
          <a:stretch>
            <a:fillRect/>
          </a:stretch>
        </p:blipFill>
        <p:spPr>
          <a:xfrm>
            <a:off x="0" y="0"/>
            <a:ext cx="5559552" cy="98755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rame_05_my_take.png"/>
          <p:cNvPicPr>
            <a:picLocks noChangeAspect="1"/>
          </p:cNvPicPr>
          <p:nvPr/>
        </p:nvPicPr>
        <p:blipFill>
          <a:blip r:embed="rId2"/>
          <a:stretch>
            <a:fillRect/>
          </a:stretch>
        </p:blipFill>
        <p:spPr>
          <a:xfrm>
            <a:off x="0" y="0"/>
            <a:ext cx="5559552" cy="9875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rame_06_cta.png"/>
          <p:cNvPicPr>
            <a:picLocks noChangeAspect="1"/>
          </p:cNvPicPr>
          <p:nvPr/>
        </p:nvPicPr>
        <p:blipFill>
          <a:blip r:embed="rId2"/>
          <a:stretch>
            <a:fillRect/>
          </a:stretch>
        </p:blipFill>
        <p:spPr>
          <a:xfrm>
            <a:off x="0" y="0"/>
            <a:ext cx="5559552" cy="98755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365760"/>
            <a:ext cx="4828032" cy="3657600"/>
          </a:xfrm>
          <a:prstGeom prst="rect">
            <a:avLst/>
          </a:prstGeom>
          <a:noFill/>
        </p:spPr>
        <p:txBody>
          <a:bodyPr wrap="square">
            <a:spAutoFit/>
          </a:bodyPr>
          <a:lstStyle/>
          <a:p>
            <a:r>
              <a:t>참고 자료 출처</a:t>
            </a:r>
          </a:p>
          <a:p>
            <a:r>
              <a:t>New insights from data analysis of 12 global clinical studies on hair shedding</a:t>
            </a:r>
          </a:p>
          <a:p>
            <a:r>
              <a:t>https://pubmed.ncbi.nlm.nih.gov/42657759/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