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5559552" cy="98755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약 4초</a:t>
            </a:r>
          </a:p>
          <a:p>
            <a:r>
              <a:t>대본: 35.9% 이 숫자, 탈모 연구가 새로 내놨습니다</a:t>
            </a:r>
          </a:p>
          <a:p>
            <a:r>
              <a:t>연출 노트: 0.5초 안에 스크롤을 멈추게 하는 구간. 숫자를 크게 읽어준다.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[paper_intro] 약 8초</a:t>
            </a:r>
          </a:p>
          <a:p>
            <a:r>
              <a:t>대본: 《Clinical, cosmetic and investigational dermatology》 - Exploratory Identification of Multidimensional Treatment-Response Profiles in Androgenetic Alopecia Treated with Combined Scalp Microneedling and Topical Minoxidil Using Unsupervised Clustering</a:t>
            </a:r>
          </a:p>
          <a:p>
            <a:r>
              <a:t>연출 노트: 출처를 분명히 밝혀 신뢰를 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[key_finding_1] 약 10초</a:t>
            </a:r>
          </a:p>
          <a:p>
            <a:r>
              <a:t>대본: Methods: In this prospective cohort study, 156 patients with AGA received standardized combination therapy (microneedling 1.0 mm depth, biweekly; 5% topical minoxidil, twice daily) for 24 weeks, with longitudinal trichoscopic, molecular and clinical assessments.</a:t>
            </a:r>
          </a:p>
          <a:p>
            <a:r>
              <a:t>연출 노트: 핵심 포인트 1. 자막을 끊어 읽는다.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[key_finding_2] 약 10초</a:t>
            </a:r>
          </a:p>
          <a:p>
            <a:r>
              <a:t>대본: Results: Silhouette analysis indicated weak global cluster structure (k=2, 0.274; k=3, 0.168); a three-cluster solution was retained as an exploratory, clinically motivated grouping and labelled Robust (n=45, 28.8%), Moderate (n=56, 35.9%) and Limited (n=55, 35.3%) responders.</a:t>
            </a:r>
          </a:p>
          <a:p>
            <a:r>
              <a:t>연출 노트: 핵심 포인트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[my_take] 약 10초</a:t>
            </a:r>
          </a:p>
          <a:p>
            <a:r>
              <a:t>대본: 탈모 연구, 매일 쉽게 정리해드립니다 🙂</a:t>
            </a:r>
          </a:p>
          <a:p>
            <a:r>
              <a:t>연출 노트: 본인 사진 + 코멘트. 문구를 직접 바꿔 쓰세요.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약 8초</a:t>
            </a:r>
          </a:p>
          <a:p>
            <a:r>
              <a:t>대본: 더 자세한 내용은 원문 링크에서 확인하세요. 매일 새로운 탈모 연구, 팔로우하고 놓치지 마세요!</a:t>
            </a:r>
          </a:p>
          <a:p>
            <a:r>
              <a:t>연출 노트: 원문 링크는 고정 댓글로 안내.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365760" y="1371600"/>
            <a:ext cx="4828032" cy="457200"/>
          </a:xfrm>
          <a:prstGeom prst="rect">
            <a:avLst/>
          </a:prstGeom>
          <a:noFill/>
        </p:spPr>
        <p:txBody>
          <a:bodyPr wrap="square" anchor="ctr">
            <a:spAutoFit/>
          </a:bodyPr>
          <a:lstStyle/>
          <a:p>
            <a:pPr algn="ctr"/>
            <a:r>
              <a:rPr sz="1400" b="1">
                <a:solidFill>
                  <a:srgbClr val="FF6B6B"/>
                </a:solidFill>
                <a:latin typeface="Arial"/>
              </a:rPr>
              <a:t>CLINICAL, COSMETIC AND INVESTIGATIONAL D</a:t>
            </a:r>
          </a:p>
        </p:txBody>
      </p:sp>
      <p:sp>
        <p:nvSpPr>
          <p:cNvPr id="3" name="TextBox 2"/>
          <p:cNvSpPr txBox="1"/>
          <p:nvPr/>
        </p:nvSpPr>
        <p:spPr>
          <a:xfrm>
            <a:off x="274320" y="3108960"/>
            <a:ext cx="5010912" cy="2011680"/>
          </a:xfrm>
          <a:prstGeom prst="rect">
            <a:avLst/>
          </a:prstGeom>
          <a:noFill/>
        </p:spPr>
        <p:txBody>
          <a:bodyPr wrap="square" anchor="ctr">
            <a:spAutoFit/>
          </a:bodyPr>
          <a:lstStyle/>
          <a:p>
            <a:pPr algn="ctr"/>
            <a:r>
              <a:rPr sz="8000" b="1">
                <a:solidFill>
                  <a:srgbClr val="FF6B6B"/>
                </a:solidFill>
                <a:latin typeface="Arial"/>
              </a:rPr>
              <a:t>35.9%</a:t>
            </a:r>
          </a:p>
        </p:txBody>
      </p:sp>
      <p:sp>
        <p:nvSpPr>
          <p:cNvPr id="4" name="TextBox 3"/>
          <p:cNvSpPr txBox="1"/>
          <p:nvPr/>
        </p:nvSpPr>
        <p:spPr>
          <a:xfrm>
            <a:off x="457200" y="5394960"/>
            <a:ext cx="4645152" cy="1463040"/>
          </a:xfrm>
          <a:prstGeom prst="rect">
            <a:avLst/>
          </a:prstGeom>
          <a:noFill/>
        </p:spPr>
        <p:txBody>
          <a:bodyPr wrap="square" anchor="ctr">
            <a:spAutoFit/>
          </a:bodyPr>
          <a:lstStyle/>
          <a:p>
            <a:pPr algn="ctr"/>
            <a:r>
              <a:rPr sz="2800" b="1">
                <a:solidFill>
                  <a:srgbClr val="FFFFFF"/>
                </a:solidFill>
                <a:latin typeface="Arial"/>
              </a:rPr>
              <a:t>이 숫자, 탈모 연구가 새로 내놨습니다</a:t>
            </a:r>
          </a:p>
        </p:txBody>
      </p:sp>
      <p:sp>
        <p:nvSpPr>
          <p:cNvPr id="5" name="TextBox 4"/>
          <p:cNvSpPr txBox="1"/>
          <p:nvPr/>
        </p:nvSpPr>
        <p:spPr>
          <a:xfrm>
            <a:off x="365760" y="8778240"/>
            <a:ext cx="4828032" cy="457200"/>
          </a:xfrm>
          <a:prstGeom prst="rect">
            <a:avLst/>
          </a:prstGeom>
          <a:noFill/>
        </p:spPr>
        <p:txBody>
          <a:bodyPr wrap="square" anchor="ctr">
            <a:spAutoFit/>
          </a:bodyPr>
          <a:lstStyle/>
          <a:p>
            <a:pPr algn="ctr"/>
            <a:r>
              <a:rPr sz="1200" b="0">
                <a:solidFill>
                  <a:srgbClr val="AAAFCD"/>
                </a:solidFill>
                <a:latin typeface="Arial"/>
              </a:rPr>
              <a:t>2026  |  매일 아침 탈모 연구 한 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paper_card.png"/>
          <p:cNvPicPr>
            <a:picLocks noChangeAspect="1"/>
          </p:cNvPicPr>
          <p:nvPr/>
        </p:nvPicPr>
        <p:blipFill>
          <a:blip r:embed="rId2"/>
          <a:stretch>
            <a:fillRect/>
          </a:stretch>
        </p:blipFill>
        <p:spPr>
          <a:xfrm>
            <a:off x="502920" y="822960"/>
            <a:ext cx="4553712" cy="8095488"/>
          </a:xfrm>
          <a:prstGeom prst="rect">
            <a:avLst/>
          </a:prstGeom>
        </p:spPr>
      </p:pic>
      <p:sp>
        <p:nvSpPr>
          <p:cNvPr id="3" name="TextBox 2"/>
          <p:cNvSpPr txBox="1"/>
          <p:nvPr/>
        </p:nvSpPr>
        <p:spPr>
          <a:xfrm>
            <a:off x="365760" y="6766560"/>
            <a:ext cx="4828032" cy="1828800"/>
          </a:xfrm>
          <a:prstGeom prst="rect">
            <a:avLst/>
          </a:prstGeom>
          <a:noFill/>
        </p:spPr>
        <p:txBody>
          <a:bodyPr wrap="square" anchor="ctr">
            <a:spAutoFit/>
          </a:bodyPr>
          <a:lstStyle/>
          <a:p>
            <a:pPr algn="ctr"/>
            <a:r>
              <a:rPr sz="2000" b="1">
                <a:solidFill>
                  <a:srgbClr val="FFFFFF"/>
                </a:solidFill>
                <a:latin typeface="Arial"/>
              </a:rPr>
              <a:t>Exploratory Identification of Multidimensional Treatment-Response Profiles in Androgenetic Alopecia Treated with Combined Scalp Microneedling and Topical Minoxidil Using Unsupervised Clustering</a:t>
            </a:r>
          </a:p>
        </p:txBody>
      </p:sp>
      <p:sp>
        <p:nvSpPr>
          <p:cNvPr id="4" name="TextBox 3"/>
          <p:cNvSpPr txBox="1"/>
          <p:nvPr/>
        </p:nvSpPr>
        <p:spPr>
          <a:xfrm>
            <a:off x="365760" y="8595360"/>
            <a:ext cx="4828032" cy="548640"/>
          </a:xfrm>
          <a:prstGeom prst="rect">
            <a:avLst/>
          </a:prstGeom>
          <a:noFill/>
        </p:spPr>
        <p:txBody>
          <a:bodyPr wrap="square" anchor="ctr">
            <a:spAutoFit/>
          </a:bodyPr>
          <a:lstStyle/>
          <a:p>
            <a:pPr algn="ctr"/>
            <a:r>
              <a:rPr sz="1300" b="0">
                <a:solidFill>
                  <a:srgbClr val="AAAFCD"/>
                </a:solidFill>
                <a:latin typeface="Arial"/>
              </a:rPr>
              <a:t>Clinical, cosmetic and investigational dermatology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1.jpg"/>
          <p:cNvPicPr>
            <a:picLocks noChangeAspect="1"/>
          </p:cNvPicPr>
          <p:nvPr/>
        </p:nvPicPr>
        <p:blipFill>
          <a:blip r:embed="rId2"/>
          <a:stretch>
            <a:fillRect/>
          </a:stretch>
        </p:blipFill>
        <p:spPr>
          <a:xfrm>
            <a:off x="-3067027" y="0"/>
            <a:ext cx="11693607"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Methods: In this prospective cohort study, 156 patients with AGA received standardized combination therapy (microneedling 1.0 mm depth, biweekly; 5% topical minoxidil, twice daily) for 24 weeks, with longitudinal trichoscopic, molecular and clinical assessments.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2.jpg"/>
          <p:cNvPicPr>
            <a:picLocks noChangeAspect="1"/>
          </p:cNvPicPr>
          <p:nvPr/>
        </p:nvPicPr>
        <p:blipFill>
          <a:blip r:embed="rId2"/>
          <a:stretch>
            <a:fillRect/>
          </a:stretch>
        </p:blipFill>
        <p:spPr>
          <a:xfrm>
            <a:off x="-923544" y="0"/>
            <a:ext cx="7406640"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Results: Silhouette analysis indicated weak global cluster structure (k=2, 0.274; k=3, 0.168); a three-cluster solution was retained as an exploratory, clinically motivated grouping and labelled Robust (n=45, 28.8%), Moderate (n=56, 35.9%) and Limited (n=55, 35.3%) responders.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latest.jpg"/>
          <p:cNvPicPr>
            <a:picLocks noChangeAspect="1"/>
          </p:cNvPicPr>
          <p:nvPr/>
        </p:nvPicPr>
        <p:blipFill>
          <a:blip r:embed="rId2"/>
          <a:stretch>
            <a:fillRect/>
          </a:stretch>
        </p:blipFill>
        <p:spPr>
          <a:xfrm>
            <a:off x="0" y="-4064"/>
            <a:ext cx="5559552" cy="9883648"/>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탈모 연구, 매일 쉽게 정리해드립니다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457200" y="3474720"/>
            <a:ext cx="4645152" cy="2743200"/>
          </a:xfrm>
          <a:prstGeom prst="rect">
            <a:avLst/>
          </a:prstGeom>
          <a:noFill/>
        </p:spPr>
        <p:txBody>
          <a:bodyPr wrap="square" anchor="ctr">
            <a:spAutoFit/>
          </a:bodyPr>
          <a:lstStyle/>
          <a:p>
            <a:pPr algn="ctr"/>
            <a:r>
              <a:rPr sz="3400" b="1">
                <a:solidFill>
                  <a:srgbClr val="FFFFFF"/>
                </a:solidFill>
                <a:latin typeface="Arial"/>
              </a:rPr>
              <a:t>더 자세한 내용은 원문 링크에서 확인하세요. 매일 새로운 탈모 연구, 팔로우하고 놓치지 마세요!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배경 — Background</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Combination therapy with scalp microneedling and topical minoxidil is more effective than minoxidil alone in androgenetic alopecia (AGA), yet treatment responses vary considerably among patients and the multidimensional structure of this heterogeneity remains poorly characterized.</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배경 — Objective</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To explore whether unsupervised clustering identifies distinct multidimensional treatment-response profiles during combination therapy and to describe their clinical and molecular characteristics as a hypothesis-generating basis for personalized management.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연구 방법 — Methods</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In this prospective cohort study, 156 patients with AGA received standardized combination therapy (microneedling 1.0 mm depth, biweekly; 5% topical minoxidil, twice daily) for 24 weeks, with longitudinal trichoscopic, molecular and clinical assessments.
· K-means clustering was applied to ten standardized treatment-response (change-from-baseline) variables; the number of clusters was examined by silhouette, gap-statistic and bootstrap-stability analyses, and between-profile differences were tested with assumption-appropriate methods and reported with effect sizes.</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주요 결과 — Results</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Silhouette analysis indicated weak global cluster structure (k=2, 0.274; k=3, 0.168); a three-cluster solution was retained as an exploratory, clinically motivated grouping and labelled Robust (n=45, 28.8%), Moderate (n=56, 35.9%) and Limited (n=55, 35.3%) responders.
· Profiles differed across the response variables that defined them, including hair-density change (36.25±19.07 vs 17.76±10.93 hairs/cm2 for Robust vs Limited; ε2=0.19) and Wnt10b transcript change (0.80±0.37 vs 0.27±0.19; ε2=0.34).
· Baseline clinical and molecular parameters, including LEF-1 and IGF-1, did not differ across profiles and did not predict profile membership.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결론 — Conclusion</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Unsupervised clustering identified three clinically interpretable treatment-response profiles accompanied by graded differences in Wnt/β-catenin-associated transcript changes.
· Because the profiles showed weak internal separation and could not be predicted from baseline characteristics, these hypothesis-generating findings suggest, rather than demonstrate, multidimensional structure in treatment response and require validation in independent, controlled cohorts before any clinical application.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731520"/>
            <a:ext cx="4828032" cy="548640"/>
          </a:xfrm>
          <a:prstGeom prst="rect">
            <a:avLst/>
          </a:prstGeom>
          <a:noFill/>
        </p:spPr>
        <p:txBody>
          <a:bodyPr wrap="square" anchor="ctr">
            <a:spAutoFit/>
          </a:bodyPr>
          <a:lstStyle/>
          <a:p>
            <a:pPr algn="ctr"/>
            <a:r>
              <a:rPr sz="2200" b="1">
                <a:solidFill>
                  <a:srgbClr val="FF6B6B"/>
                </a:solidFill>
                <a:latin typeface="Arial"/>
              </a:rPr>
              <a:t>출처</a:t>
            </a:r>
          </a:p>
        </p:txBody>
      </p:sp>
      <p:sp>
        <p:nvSpPr>
          <p:cNvPr id="3" name="TextBox 2"/>
          <p:cNvSpPr txBox="1"/>
          <p:nvPr/>
        </p:nvSpPr>
        <p:spPr>
          <a:xfrm>
            <a:off x="365760" y="1463040"/>
            <a:ext cx="4828032" cy="7680960"/>
          </a:xfrm>
          <a:prstGeom prst="rect">
            <a:avLst/>
          </a:prstGeom>
          <a:noFill/>
        </p:spPr>
        <p:txBody>
          <a:bodyPr wrap="square" anchor="t">
            <a:spAutoFit/>
          </a:bodyPr>
          <a:lstStyle/>
          <a:p>
            <a:pPr algn="l"/>
            <a:r>
              <a:rPr sz="1000" b="0">
                <a:solidFill>
                  <a:srgbClr val="D5D8EA"/>
                </a:solidFill>
                <a:latin typeface="Arial"/>
              </a:rPr>
              <a:t>[출처]
논문: Exploratory Identification of Multidimensional Treatment-Response Profiles in Androgenetic Alopecia Treated with Combined Scalp Microneedling and Topical Minoxidil Using Unsupervised Clustering
게재: Clinical, cosmetic and investigational dermatology
원문: https://pubmed.ncbi.nlm.nih.gov/42866572/
[이미지 출처]
- Male pattern baldness.jpg / Originally uploaded by Lkinkade (Transferred by XenonX3) / CC BY-SA 2.5
  https://commons.wikimedia.org/wiki/File:Male_pattern_baldness.jpg
- Male-pattern hair loss.jpg / BlaiserPascal / CC BY-SA 4.0
  https://commons.wikimedia.org/wiki/File:Male-pattern_hair_loss.jpg
※ CC BY-SA 이미지가 포함되어 있습니다. 저작자 표시가 필수이며,
  동일조건변경허락(ShareAlike) 조항이 영상 전체에 적용될 수 있으니
  상업적 이용 시 해당 이미지를 교체하는 편이 안전합니다.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