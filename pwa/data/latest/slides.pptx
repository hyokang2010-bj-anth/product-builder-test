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5559552" cy="987552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[hook] 약 4초</a:t>
            </a:r>
          </a:p>
          <a:p>
            <a:r>
              <a:t>대본: 오늘의 논문 Supportive care in cancer에 실린 새 연구입니다</a:t>
            </a:r>
          </a:p>
          <a:p>
            <a:r>
              <a:t>연출 노트: 0.5초 안에 스크롤을 멈추게 하는 구간. 숫자를 크게 읽어준다.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[paper_intro] 약 8초</a:t>
            </a:r>
          </a:p>
          <a:p>
            <a:r>
              <a:t>대본: 《Supportive care in cancer : official journal of the Multinational Association of Supportive Care in Cancer》 - Evaluating disparities in counseling and resources for chemotherapy-induced hair loss: qualitative analysis of a survey-based approach</a:t>
            </a:r>
          </a:p>
          <a:p>
            <a:r>
              <a:t>연출 노트: 출처를 분명히 밝혀 신뢰를 준다.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[key_finding_1] 약 10초</a:t>
            </a:r>
          </a:p>
          <a:p>
            <a:r>
              <a:t>대본: Purpose: Chemotherapy-induced alopecia (CIA) is a distressing side effect of cancer treatment that significantly impacts patients' quality of life.</a:t>
            </a:r>
          </a:p>
          <a:p>
            <a:r>
              <a:t>연출 노트: 핵심 포인트 1. 자막을 끊어 읽는다.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[key_finding_2] 약 10초</a:t>
            </a:r>
          </a:p>
          <a:p>
            <a:r>
              <a:t>대본: Methods: We conducted a mixed-methods, cross-sectional survey study of 101 adults who had received chemotherapy and experienced hair loss.</a:t>
            </a:r>
          </a:p>
          <a:p>
            <a:r>
              <a:t>연출 노트: 핵심 포인트 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[my_take] 약 10초</a:t>
            </a:r>
          </a:p>
          <a:p>
            <a:r>
              <a:t>대본: 탈모 연구, 매일 쉽게 정리해드립니다 🙂</a:t>
            </a:r>
          </a:p>
          <a:p>
            <a:r>
              <a:t>연출 노트: 본인 사진 + 코멘트. 문구를 직접 바꿔 쓰세요.</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약 8초</a:t>
            </a:r>
          </a:p>
          <a:p>
            <a:r>
              <a:t>대본: 더 자세한 내용은 원문 링크에서 확인하세요. 매일 새로운 탈모 연구, 팔로우하고 놓치지 마세요!</a:t>
            </a:r>
          </a:p>
          <a:p>
            <a:r>
              <a:t>연출 노트: 원문 링크는 고정 댓글로 안내.</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편집 참고용 슬라이드입니다. 영상에는 쓰지 않아도 됩니다.</a:t>
            </a:r>
          </a:p>
          <a:p>
            <a:r>
              <a:t>원문 영어 문장을 그대로 발췌했으므로 번역·검수 후 사용하세요.</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편집 참고용 슬라이드입니다. 영상에는 쓰지 않아도 됩니다.</a:t>
            </a:r>
          </a:p>
          <a:p>
            <a:r>
              <a:t>원문 영어 문장을 그대로 발췌했으므로 번역·검수 후 사용하세요.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편집 참고용 슬라이드입니다. 영상에는 쓰지 않아도 됩니다.</a:t>
            </a:r>
          </a:p>
          <a:p>
            <a:r>
              <a:t>원문 영어 문장을 그대로 발췌했으므로 번역·검수 후 사용하세요.</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1F3B"/>
        </a:solidFill>
        <a:effectLst/>
      </p:bgPr>
    </p:bg>
    <p:spTree>
      <p:nvGrpSpPr>
        <p:cNvPr id="1" name=""/>
        <p:cNvGrpSpPr/>
        <p:nvPr/>
      </p:nvGrpSpPr>
      <p:grpSpPr/>
      <p:sp>
        <p:nvSpPr>
          <p:cNvPr id="2" name="TextBox 1"/>
          <p:cNvSpPr txBox="1"/>
          <p:nvPr/>
        </p:nvSpPr>
        <p:spPr>
          <a:xfrm>
            <a:off x="365760" y="1371600"/>
            <a:ext cx="4828032" cy="457200"/>
          </a:xfrm>
          <a:prstGeom prst="rect">
            <a:avLst/>
          </a:prstGeom>
          <a:noFill/>
        </p:spPr>
        <p:txBody>
          <a:bodyPr wrap="square" anchor="ctr">
            <a:spAutoFit/>
          </a:bodyPr>
          <a:lstStyle/>
          <a:p>
            <a:pPr algn="ctr"/>
            <a:r>
              <a:rPr sz="1400" b="1">
                <a:solidFill>
                  <a:srgbClr val="FF6B6B"/>
                </a:solidFill>
                <a:latin typeface="Arial"/>
              </a:rPr>
              <a:t>SUPPORTIVE CARE IN CANCER : OFFICIAL JOU</a:t>
            </a:r>
          </a:p>
        </p:txBody>
      </p:sp>
      <p:sp>
        <p:nvSpPr>
          <p:cNvPr id="3" name="TextBox 2"/>
          <p:cNvSpPr txBox="1"/>
          <p:nvPr/>
        </p:nvSpPr>
        <p:spPr>
          <a:xfrm>
            <a:off x="274320" y="3108960"/>
            <a:ext cx="5010912" cy="2011680"/>
          </a:xfrm>
          <a:prstGeom prst="rect">
            <a:avLst/>
          </a:prstGeom>
          <a:noFill/>
        </p:spPr>
        <p:txBody>
          <a:bodyPr wrap="square" anchor="ctr">
            <a:spAutoFit/>
          </a:bodyPr>
          <a:lstStyle/>
          <a:p>
            <a:pPr algn="ctr"/>
            <a:r>
              <a:rPr sz="8000" b="1">
                <a:solidFill>
                  <a:srgbClr val="FF6B6B"/>
                </a:solidFill>
                <a:latin typeface="Arial"/>
              </a:rPr>
              <a:t>오늘의 논문</a:t>
            </a:r>
          </a:p>
        </p:txBody>
      </p:sp>
      <p:sp>
        <p:nvSpPr>
          <p:cNvPr id="4" name="TextBox 3"/>
          <p:cNvSpPr txBox="1"/>
          <p:nvPr/>
        </p:nvSpPr>
        <p:spPr>
          <a:xfrm>
            <a:off x="457200" y="5394960"/>
            <a:ext cx="4645152" cy="1463040"/>
          </a:xfrm>
          <a:prstGeom prst="rect">
            <a:avLst/>
          </a:prstGeom>
          <a:noFill/>
        </p:spPr>
        <p:txBody>
          <a:bodyPr wrap="square" anchor="ctr">
            <a:spAutoFit/>
          </a:bodyPr>
          <a:lstStyle/>
          <a:p>
            <a:pPr algn="ctr"/>
            <a:r>
              <a:rPr sz="2800" b="1">
                <a:solidFill>
                  <a:srgbClr val="FFFFFF"/>
                </a:solidFill>
                <a:latin typeface="Arial"/>
              </a:rPr>
              <a:t>Supportive care in cancer에 실린 새 연구입니다</a:t>
            </a:r>
          </a:p>
        </p:txBody>
      </p:sp>
      <p:sp>
        <p:nvSpPr>
          <p:cNvPr id="5" name="TextBox 4"/>
          <p:cNvSpPr txBox="1"/>
          <p:nvPr/>
        </p:nvSpPr>
        <p:spPr>
          <a:xfrm>
            <a:off x="365760" y="8778240"/>
            <a:ext cx="4828032" cy="457200"/>
          </a:xfrm>
          <a:prstGeom prst="rect">
            <a:avLst/>
          </a:prstGeom>
          <a:noFill/>
        </p:spPr>
        <p:txBody>
          <a:bodyPr wrap="square" anchor="ctr">
            <a:spAutoFit/>
          </a:bodyPr>
          <a:lstStyle/>
          <a:p>
            <a:pPr algn="ctr"/>
            <a:r>
              <a:rPr sz="1200" b="0">
                <a:solidFill>
                  <a:srgbClr val="AAAFCD"/>
                </a:solidFill>
                <a:latin typeface="Arial"/>
              </a:rPr>
              <a:t>2026 Oct 22  |  매일 아침 탈모 연구 한 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B1F3B"/>
        </a:solidFill>
        <a:effectLst/>
      </p:bgPr>
    </p:bg>
    <p:spTree>
      <p:nvGrpSpPr>
        <p:cNvPr id="1" name=""/>
        <p:cNvGrpSpPr/>
        <p:nvPr/>
      </p:nvGrpSpPr>
      <p:grpSpPr/>
      <p:pic>
        <p:nvPicPr>
          <p:cNvPr id="2" name="Picture 1" descr="paper_card.png"/>
          <p:cNvPicPr>
            <a:picLocks noChangeAspect="1"/>
          </p:cNvPicPr>
          <p:nvPr/>
        </p:nvPicPr>
        <p:blipFill>
          <a:blip r:embed="rId2"/>
          <a:stretch>
            <a:fillRect/>
          </a:stretch>
        </p:blipFill>
        <p:spPr>
          <a:xfrm>
            <a:off x="502920" y="822960"/>
            <a:ext cx="4553712" cy="8095488"/>
          </a:xfrm>
          <a:prstGeom prst="rect">
            <a:avLst/>
          </a:prstGeom>
        </p:spPr>
      </p:pic>
      <p:sp>
        <p:nvSpPr>
          <p:cNvPr id="3" name="TextBox 2"/>
          <p:cNvSpPr txBox="1"/>
          <p:nvPr/>
        </p:nvSpPr>
        <p:spPr>
          <a:xfrm>
            <a:off x="365760" y="6766560"/>
            <a:ext cx="4828032" cy="1828800"/>
          </a:xfrm>
          <a:prstGeom prst="rect">
            <a:avLst/>
          </a:prstGeom>
          <a:noFill/>
        </p:spPr>
        <p:txBody>
          <a:bodyPr wrap="square" anchor="ctr">
            <a:spAutoFit/>
          </a:bodyPr>
          <a:lstStyle/>
          <a:p>
            <a:pPr algn="ctr"/>
            <a:r>
              <a:rPr sz="2000" b="1">
                <a:solidFill>
                  <a:srgbClr val="FFFFFF"/>
                </a:solidFill>
                <a:latin typeface="Arial"/>
              </a:rPr>
              <a:t>Evaluating disparities in counseling and resources for chemotherapy-induced hair loss: qualitative analysis of a survey-based approach</a:t>
            </a:r>
          </a:p>
        </p:txBody>
      </p:sp>
      <p:sp>
        <p:nvSpPr>
          <p:cNvPr id="4" name="TextBox 3"/>
          <p:cNvSpPr txBox="1"/>
          <p:nvPr/>
        </p:nvSpPr>
        <p:spPr>
          <a:xfrm>
            <a:off x="365760" y="8595360"/>
            <a:ext cx="4828032" cy="548640"/>
          </a:xfrm>
          <a:prstGeom prst="rect">
            <a:avLst/>
          </a:prstGeom>
          <a:noFill/>
        </p:spPr>
        <p:txBody>
          <a:bodyPr wrap="square" anchor="ctr">
            <a:spAutoFit/>
          </a:bodyPr>
          <a:lstStyle/>
          <a:p>
            <a:pPr algn="ctr"/>
            <a:r>
              <a:rPr sz="1300" b="0">
                <a:solidFill>
                  <a:srgbClr val="AAAFCD"/>
                </a:solidFill>
                <a:latin typeface="Arial"/>
              </a:rPr>
              <a:t>Supportive care in cancer : official journal of the Multinational Association of Supportive Care in Cancer  ·  2026 Oct 22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B1F3B"/>
        </a:solidFill>
        <a:effectLst/>
      </p:bgPr>
    </p:bg>
    <p:spTree>
      <p:nvGrpSpPr>
        <p:cNvPr id="1" name=""/>
        <p:cNvGrpSpPr/>
        <p:nvPr/>
      </p:nvGrpSpPr>
      <p:grpSpPr/>
      <p:pic>
        <p:nvPicPr>
          <p:cNvPr id="2" name="Picture 1" descr="topic_1.jpg"/>
          <p:cNvPicPr>
            <a:picLocks noChangeAspect="1"/>
          </p:cNvPicPr>
          <p:nvPr/>
        </p:nvPicPr>
        <p:blipFill>
          <a:blip r:embed="rId2"/>
          <a:stretch>
            <a:fillRect/>
          </a:stretch>
        </p:blipFill>
        <p:spPr>
          <a:xfrm>
            <a:off x="-3067027" y="0"/>
            <a:ext cx="11693607" cy="9875520"/>
          </a:xfrm>
          <a:prstGeom prst="rect">
            <a:avLst/>
          </a:prstGeom>
        </p:spPr>
      </p:pic>
      <p:sp>
        <p:nvSpPr>
          <p:cNvPr id="3" name="Rectangle 2"/>
          <p:cNvSpPr/>
          <p:nvPr/>
        </p:nvSpPr>
        <p:spPr>
          <a:xfrm>
            <a:off x="0" y="6122822"/>
            <a:ext cx="5559552" cy="37526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00"/>
            <a:ext cx="4828032" cy="2926080"/>
          </a:xfrm>
          <a:prstGeom prst="rect">
            <a:avLst/>
          </a:prstGeom>
          <a:noFill/>
        </p:spPr>
        <p:txBody>
          <a:bodyPr wrap="square" anchor="ctr">
            <a:spAutoFit/>
          </a:bodyPr>
          <a:lstStyle/>
          <a:p>
            <a:pPr algn="ctr"/>
            <a:r>
              <a:rPr sz="2200" b="1">
                <a:solidFill>
                  <a:srgbClr val="FFFFFF"/>
                </a:solidFill>
                <a:latin typeface="Arial"/>
              </a:rPr>
              <a:t>Purpose: Chemotherapy-induced alopecia (CIA) is a distressing side effect of cancer treatment that significantly impacts patients' quality of life.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1F3B"/>
        </a:solidFill>
        <a:effectLst/>
      </p:bgPr>
    </p:bg>
    <p:spTree>
      <p:nvGrpSpPr>
        <p:cNvPr id="1" name=""/>
        <p:cNvGrpSpPr/>
        <p:nvPr/>
      </p:nvGrpSpPr>
      <p:grpSpPr/>
      <p:pic>
        <p:nvPicPr>
          <p:cNvPr id="2" name="Picture 1" descr="topic_2.jpg"/>
          <p:cNvPicPr>
            <a:picLocks noChangeAspect="1"/>
          </p:cNvPicPr>
          <p:nvPr/>
        </p:nvPicPr>
        <p:blipFill>
          <a:blip r:embed="rId2"/>
          <a:stretch>
            <a:fillRect/>
          </a:stretch>
        </p:blipFill>
        <p:spPr>
          <a:xfrm>
            <a:off x="-923544" y="0"/>
            <a:ext cx="7406640" cy="9875520"/>
          </a:xfrm>
          <a:prstGeom prst="rect">
            <a:avLst/>
          </a:prstGeom>
        </p:spPr>
      </p:pic>
      <p:sp>
        <p:nvSpPr>
          <p:cNvPr id="3" name="Rectangle 2"/>
          <p:cNvSpPr/>
          <p:nvPr/>
        </p:nvSpPr>
        <p:spPr>
          <a:xfrm>
            <a:off x="0" y="6122822"/>
            <a:ext cx="5559552" cy="37526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00"/>
            <a:ext cx="4828032" cy="2926080"/>
          </a:xfrm>
          <a:prstGeom prst="rect">
            <a:avLst/>
          </a:prstGeom>
          <a:noFill/>
        </p:spPr>
        <p:txBody>
          <a:bodyPr wrap="square" anchor="ctr">
            <a:spAutoFit/>
          </a:bodyPr>
          <a:lstStyle/>
          <a:p>
            <a:pPr algn="ctr"/>
            <a:r>
              <a:rPr sz="2200" b="1">
                <a:solidFill>
                  <a:srgbClr val="FFFFFF"/>
                </a:solidFill>
                <a:latin typeface="Arial"/>
              </a:rPr>
              <a:t>Methods: We conducted a mixed-methods, cross-sectional survey study of 101 adults who had received chemotherapy and experienced hair loss.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B1F3B"/>
        </a:solidFill>
        <a:effectLst/>
      </p:bgPr>
    </p:bg>
    <p:spTree>
      <p:nvGrpSpPr>
        <p:cNvPr id="1" name=""/>
        <p:cNvGrpSpPr/>
        <p:nvPr/>
      </p:nvGrpSpPr>
      <p:grpSpPr/>
      <p:pic>
        <p:nvPicPr>
          <p:cNvPr id="2" name="Picture 1" descr="latest.jpg"/>
          <p:cNvPicPr>
            <a:picLocks noChangeAspect="1"/>
          </p:cNvPicPr>
          <p:nvPr/>
        </p:nvPicPr>
        <p:blipFill>
          <a:blip r:embed="rId2"/>
          <a:stretch>
            <a:fillRect/>
          </a:stretch>
        </p:blipFill>
        <p:spPr>
          <a:xfrm>
            <a:off x="0" y="-4064"/>
            <a:ext cx="5559552" cy="9883648"/>
          </a:xfrm>
          <a:prstGeom prst="rect">
            <a:avLst/>
          </a:prstGeom>
        </p:spPr>
      </p:pic>
      <p:sp>
        <p:nvSpPr>
          <p:cNvPr id="3" name="Rectangle 2"/>
          <p:cNvSpPr/>
          <p:nvPr/>
        </p:nvSpPr>
        <p:spPr>
          <a:xfrm>
            <a:off x="0" y="6122822"/>
            <a:ext cx="5559552" cy="37526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00"/>
            <a:ext cx="4828032" cy="2926080"/>
          </a:xfrm>
          <a:prstGeom prst="rect">
            <a:avLst/>
          </a:prstGeom>
          <a:noFill/>
        </p:spPr>
        <p:txBody>
          <a:bodyPr wrap="square" anchor="ctr">
            <a:spAutoFit/>
          </a:bodyPr>
          <a:lstStyle/>
          <a:p>
            <a:pPr algn="ctr"/>
            <a:r>
              <a:rPr sz="2200" b="1">
                <a:solidFill>
                  <a:srgbClr val="FFFFFF"/>
                </a:solidFill>
                <a:latin typeface="Arial"/>
              </a:rPr>
              <a:t>탈모 연구, 매일 쉽게 정리해드립니다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B1F3B"/>
        </a:solidFill>
        <a:effectLst/>
      </p:bgPr>
    </p:bg>
    <p:spTree>
      <p:nvGrpSpPr>
        <p:cNvPr id="1" name=""/>
        <p:cNvGrpSpPr/>
        <p:nvPr/>
      </p:nvGrpSpPr>
      <p:grpSpPr/>
      <p:sp>
        <p:nvSpPr>
          <p:cNvPr id="2" name="TextBox 1"/>
          <p:cNvSpPr txBox="1"/>
          <p:nvPr/>
        </p:nvSpPr>
        <p:spPr>
          <a:xfrm>
            <a:off x="457200" y="3474720"/>
            <a:ext cx="4645152" cy="2743200"/>
          </a:xfrm>
          <a:prstGeom prst="rect">
            <a:avLst/>
          </a:prstGeom>
          <a:noFill/>
        </p:spPr>
        <p:txBody>
          <a:bodyPr wrap="square" anchor="ctr">
            <a:spAutoFit/>
          </a:bodyPr>
          <a:lstStyle/>
          <a:p>
            <a:pPr algn="ctr"/>
            <a:r>
              <a:rPr sz="3400" b="1">
                <a:solidFill>
                  <a:srgbClr val="FFFFFF"/>
                </a:solidFill>
                <a:latin typeface="Arial"/>
              </a:rPr>
              <a:t>더 자세한 내용은 원문 링크에서 확인하세요. 매일 새로운 탈모 연구, 팔로우하고 놓치지 마세요!</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2142A"/>
        </a:solidFill>
        <a:effectLst/>
      </p:bgPr>
    </p:bg>
    <p:spTree>
      <p:nvGrpSpPr>
        <p:cNvPr id="1" name=""/>
        <p:cNvGrpSpPr/>
        <p:nvPr/>
      </p:nvGrpSpPr>
      <p:grpSpPr/>
      <p:sp>
        <p:nvSpPr>
          <p:cNvPr id="2" name="TextBox 1"/>
          <p:cNvSpPr txBox="1"/>
          <p:nvPr/>
        </p:nvSpPr>
        <p:spPr>
          <a:xfrm>
            <a:off x="365760" y="457200"/>
            <a:ext cx="4828032" cy="457200"/>
          </a:xfrm>
          <a:prstGeom prst="rect">
            <a:avLst/>
          </a:prstGeom>
          <a:noFill/>
        </p:spPr>
        <p:txBody>
          <a:bodyPr wrap="square" anchor="ctr">
            <a:spAutoFit/>
          </a:bodyPr>
          <a:lstStyle/>
          <a:p>
            <a:pPr algn="l"/>
            <a:r>
              <a:rPr sz="1600" b="1">
                <a:solidFill>
                  <a:srgbClr val="FF6B6B"/>
                </a:solidFill>
                <a:latin typeface="Arial"/>
              </a:rPr>
              <a:t>본문 요약 (편집용)</a:t>
            </a:r>
          </a:p>
        </p:txBody>
      </p:sp>
      <p:sp>
        <p:nvSpPr>
          <p:cNvPr id="3" name="TextBox 2"/>
          <p:cNvSpPr txBox="1"/>
          <p:nvPr/>
        </p:nvSpPr>
        <p:spPr>
          <a:xfrm>
            <a:off x="365760" y="1097280"/>
            <a:ext cx="4828032" cy="457200"/>
          </a:xfrm>
          <a:prstGeom prst="rect">
            <a:avLst/>
          </a:prstGeom>
          <a:noFill/>
        </p:spPr>
        <p:txBody>
          <a:bodyPr wrap="square" anchor="t">
            <a:spAutoFit/>
          </a:bodyPr>
          <a:lstStyle/>
          <a:p>
            <a:pPr algn="l"/>
            <a:r>
              <a:rPr sz="1300" b="1">
                <a:solidFill>
                  <a:srgbClr val="FFFFFF"/>
                </a:solidFill>
                <a:latin typeface="Arial"/>
              </a:rPr>
              <a:t>◆ 배경 — Introduction and background</a:t>
            </a:r>
          </a:p>
        </p:txBody>
      </p:sp>
      <p:sp>
        <p:nvSpPr>
          <p:cNvPr id="4" name="TextBox 3"/>
          <p:cNvSpPr txBox="1"/>
          <p:nvPr/>
        </p:nvSpPr>
        <p:spPr>
          <a:xfrm>
            <a:off x="457200" y="1600200"/>
            <a:ext cx="4736592" cy="3566160"/>
          </a:xfrm>
          <a:prstGeom prst="rect">
            <a:avLst/>
          </a:prstGeom>
          <a:noFill/>
        </p:spPr>
        <p:txBody>
          <a:bodyPr wrap="square" anchor="t">
            <a:spAutoFit/>
          </a:bodyPr>
          <a:lstStyle/>
          <a:p>
            <a:pPr algn="l"/>
            <a:r>
              <a:rPr sz="1000" b="0">
                <a:solidFill>
                  <a:srgbClr val="D5D8EA"/>
                </a:solidFill>
                <a:latin typeface="Arial"/>
              </a:rPr>
              <a:t>· Chemotherapy-induced hair loss, also referred to as chemotherapy-induced alopecia (CIA), is one of the most visible and emotionally distressing side effects of cancer treatment.
· Prior research has documented associations between hair loss and reduced quality of life, body image concerns, and psychosocial distress, underscoring the clinical importance of addressing CIA as part of comprehensive cancer care.
· Beyond physical appearance, hair loss can disrupt patients’ sense of privacy and social identity, serving as a visible marker of illness that persists throughout treatment and recovery.</a:t>
            </a:r>
          </a:p>
        </p:txBody>
      </p:sp>
      <p:sp>
        <p:nvSpPr>
          <p:cNvPr id="5" name="TextBox 4"/>
          <p:cNvSpPr txBox="1"/>
          <p:nvPr/>
        </p:nvSpPr>
        <p:spPr>
          <a:xfrm>
            <a:off x="365760" y="5303520"/>
            <a:ext cx="4828032" cy="457200"/>
          </a:xfrm>
          <a:prstGeom prst="rect">
            <a:avLst/>
          </a:prstGeom>
          <a:noFill/>
        </p:spPr>
        <p:txBody>
          <a:bodyPr wrap="square" anchor="t">
            <a:spAutoFit/>
          </a:bodyPr>
          <a:lstStyle/>
          <a:p>
            <a:pPr algn="l"/>
            <a:r>
              <a:rPr sz="1300" b="1">
                <a:solidFill>
                  <a:srgbClr val="FFFFFF"/>
                </a:solidFill>
                <a:latin typeface="Arial"/>
              </a:rPr>
              <a:t>◆ 연구 방법 — Methods</a:t>
            </a:r>
          </a:p>
        </p:txBody>
      </p:sp>
      <p:sp>
        <p:nvSpPr>
          <p:cNvPr id="6" name="TextBox 5"/>
          <p:cNvSpPr txBox="1"/>
          <p:nvPr/>
        </p:nvSpPr>
        <p:spPr>
          <a:xfrm>
            <a:off x="457200" y="5806440"/>
            <a:ext cx="4736592" cy="3566160"/>
          </a:xfrm>
          <a:prstGeom prst="rect">
            <a:avLst/>
          </a:prstGeom>
          <a:noFill/>
        </p:spPr>
        <p:txBody>
          <a:bodyPr wrap="square" anchor="t">
            <a:spAutoFit/>
          </a:bodyPr>
          <a:lstStyle/>
          <a:p>
            <a:pPr algn="l"/>
            <a:r>
              <a:rPr sz="1000" b="0">
                <a:solidFill>
                  <a:srgbClr val="D5D8EA"/>
                </a:solidFill>
                <a:latin typeface="Arial"/>
              </a:rPr>
              <a:t>· Eligible participants included adult individuals (at least 18 years old) who had received chemotherapy and experienced hair loss.
· A total of 101 individuals participated in the survey study.
· The survey was open from January to May 2025.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2142A"/>
        </a:solidFill>
        <a:effectLst/>
      </p:bgPr>
    </p:bg>
    <p:spTree>
      <p:nvGrpSpPr>
        <p:cNvPr id="1" name=""/>
        <p:cNvGrpSpPr/>
        <p:nvPr/>
      </p:nvGrpSpPr>
      <p:grpSpPr/>
      <p:sp>
        <p:nvSpPr>
          <p:cNvPr id="2" name="TextBox 1"/>
          <p:cNvSpPr txBox="1"/>
          <p:nvPr/>
        </p:nvSpPr>
        <p:spPr>
          <a:xfrm>
            <a:off x="365760" y="457200"/>
            <a:ext cx="4828032" cy="457200"/>
          </a:xfrm>
          <a:prstGeom prst="rect">
            <a:avLst/>
          </a:prstGeom>
          <a:noFill/>
        </p:spPr>
        <p:txBody>
          <a:bodyPr wrap="square" anchor="ctr">
            <a:spAutoFit/>
          </a:bodyPr>
          <a:lstStyle/>
          <a:p>
            <a:pPr algn="l"/>
            <a:r>
              <a:rPr sz="1600" b="1">
                <a:solidFill>
                  <a:srgbClr val="FF6B6B"/>
                </a:solidFill>
                <a:latin typeface="Arial"/>
              </a:rPr>
              <a:t>본문 요약 (편집용)</a:t>
            </a:r>
          </a:p>
        </p:txBody>
      </p:sp>
      <p:sp>
        <p:nvSpPr>
          <p:cNvPr id="3" name="TextBox 2"/>
          <p:cNvSpPr txBox="1"/>
          <p:nvPr/>
        </p:nvSpPr>
        <p:spPr>
          <a:xfrm>
            <a:off x="365760" y="1097280"/>
            <a:ext cx="4828032" cy="457200"/>
          </a:xfrm>
          <a:prstGeom prst="rect">
            <a:avLst/>
          </a:prstGeom>
          <a:noFill/>
        </p:spPr>
        <p:txBody>
          <a:bodyPr wrap="square" anchor="t">
            <a:spAutoFit/>
          </a:bodyPr>
          <a:lstStyle/>
          <a:p>
            <a:pPr algn="l"/>
            <a:r>
              <a:rPr sz="1300" b="1">
                <a:solidFill>
                  <a:srgbClr val="FFFFFF"/>
                </a:solidFill>
                <a:latin typeface="Arial"/>
              </a:rPr>
              <a:t>◆ 주요 결과 — Results</a:t>
            </a:r>
          </a:p>
        </p:txBody>
      </p:sp>
      <p:sp>
        <p:nvSpPr>
          <p:cNvPr id="4" name="TextBox 3"/>
          <p:cNvSpPr txBox="1"/>
          <p:nvPr/>
        </p:nvSpPr>
        <p:spPr>
          <a:xfrm>
            <a:off x="457200" y="1600200"/>
            <a:ext cx="4736592" cy="3566160"/>
          </a:xfrm>
          <a:prstGeom prst="rect">
            <a:avLst/>
          </a:prstGeom>
          <a:noFill/>
        </p:spPr>
        <p:txBody>
          <a:bodyPr wrap="square" anchor="t">
            <a:spAutoFit/>
          </a:bodyPr>
          <a:lstStyle/>
          <a:p>
            <a:pPr algn="l"/>
            <a:r>
              <a:rPr sz="1000" b="0">
                <a:solidFill>
                  <a:srgbClr val="D5D8EA"/>
                </a:solidFill>
                <a:latin typeface="Arial"/>
              </a:rPr>
              <a:t>· A total of 101 participants completed the survey.
· Most participants had completed at least a bachelor’s degree (74.3%), and 56.4% were employed either full time or part time.
· Among participants who reported household income (n = 99), 57.6% reported an annual household income of $100,000 or greater.
· Open-ended survey responses revealed 11 distinct themes reflecting patients’ experiences with chemotherapy-induced hair loss, counseling, and access to supportive resources.
· If I had had to pay for it, I don’t know if I could’ve afforded it.”“I wish it had been covered by insurance.”“I was Medicaid pending when I started treatment.”“My insurance requires preauthorization for a wig, which I didn’t know before purchasing one.”Logistical burdens and institutional limitations.Scalp cooling often required extensive coordination—dry ice, caregiver help, and long infusion times—and many centers lacked equipment, training, or support staff, making it difficult to implement effectively.“Professional systems are not available at my treatment center… then I’d still have to trudge in 60 pounds or so of dry ice each time.”“I wish my facility had capping machines so we didn’t have to take the machine back and forth.”“The process was exhausting, especially the post-infusion cooling.”“Nurses didn’t really know how to use the machine and seemed to be burdened.”“The self caps don’t stay cold long enough.”Scalp cooling effectiveness and treatment experience.Patients reported mixed outcomes with scalp cooling, ranging from successful partial retention to complete failure.
· Scalp cooling often required extensive coordination—dry ice, caregiver help, and long infusion times—and many centers lacked equipment, training, or support staff, making it difficult to implement effectively.“Professional systems are not available at my treatment center… then I’d still have to trudge in 60 pounds or so of dry ice each time.”“I wish my facility had capping machines so we didn’t have to take the machine back and forth.”“The process was exhausting, especially the post-infusion cooling.”“Nurses didn’t really know how to use the machine and seemed to be burdened.”“The self caps don’t stay cold long enough.”
· “Professional systems are not available at my treatment center… then I’d still have to trudge in 60 pounds or so of dry ice each time.”</a:t>
            </a:r>
          </a:p>
        </p:txBody>
      </p:sp>
      <p:sp>
        <p:nvSpPr>
          <p:cNvPr id="5" name="TextBox 4"/>
          <p:cNvSpPr txBox="1"/>
          <p:nvPr/>
        </p:nvSpPr>
        <p:spPr>
          <a:xfrm>
            <a:off x="365760" y="5303520"/>
            <a:ext cx="4828032" cy="457200"/>
          </a:xfrm>
          <a:prstGeom prst="rect">
            <a:avLst/>
          </a:prstGeom>
          <a:noFill/>
        </p:spPr>
        <p:txBody>
          <a:bodyPr wrap="square" anchor="t">
            <a:spAutoFit/>
          </a:bodyPr>
          <a:lstStyle/>
          <a:p>
            <a:pPr algn="l"/>
            <a:r>
              <a:rPr sz="1300" b="1">
                <a:solidFill>
                  <a:srgbClr val="FFFFFF"/>
                </a:solidFill>
                <a:latin typeface="Arial"/>
              </a:rPr>
              <a:t>◆ 고찰 — Discussion</a:t>
            </a:r>
          </a:p>
        </p:txBody>
      </p:sp>
      <p:sp>
        <p:nvSpPr>
          <p:cNvPr id="6" name="TextBox 5"/>
          <p:cNvSpPr txBox="1"/>
          <p:nvPr/>
        </p:nvSpPr>
        <p:spPr>
          <a:xfrm>
            <a:off x="457200" y="5806440"/>
            <a:ext cx="4736592" cy="3566160"/>
          </a:xfrm>
          <a:prstGeom prst="rect">
            <a:avLst/>
          </a:prstGeom>
          <a:noFill/>
        </p:spPr>
        <p:txBody>
          <a:bodyPr wrap="square" anchor="t">
            <a:spAutoFit/>
          </a:bodyPr>
          <a:lstStyle/>
          <a:p>
            <a:pPr algn="l"/>
            <a:r>
              <a:rPr sz="1000" b="0">
                <a:solidFill>
                  <a:srgbClr val="D5D8EA"/>
                </a:solidFill>
                <a:latin typeface="Arial"/>
              </a:rPr>
              <a:t>· A survey study of oncologists and dermatologists (n = 103) found significant differences in how CIA was viewed.
· Another study of oncologists (n = 155) found that 67.1% of providers felt that all patients should be offered scalp cooling therapy, but only 26.3% report regularly initiating conversations about scalp cooling therapy and only 36% felt that scalp cooling benefits were worth the effort and cost involved.
· A survey study of women in Facebook groups created for scalp cooling therapy users (n = 219) found that key motivations for utilizing social media in scalp cooling therapy included to gain support from others going through a similar experience (88.1% of participants), to receive scalp cooling instructions (82.2%), and to learn about the scalp cooling therapy outcomes of other patients (69.9%).
· In a study of 179 patients undergoing chemotherapy, 56.4% reported that hair loss was the worst side effect, with 11.7% finding it worse than the disease itself and 16.2% reporting that hair loss would have made them stop chemotherapy if it was not a life-saving treatment.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2142A"/>
        </a:solidFill>
        <a:effectLst/>
      </p:bgPr>
    </p:bg>
    <p:spTree>
      <p:nvGrpSpPr>
        <p:cNvPr id="1" name=""/>
        <p:cNvGrpSpPr/>
        <p:nvPr/>
      </p:nvGrpSpPr>
      <p:grpSpPr/>
      <p:sp>
        <p:nvSpPr>
          <p:cNvPr id="2" name="TextBox 1"/>
          <p:cNvSpPr txBox="1"/>
          <p:nvPr/>
        </p:nvSpPr>
        <p:spPr>
          <a:xfrm>
            <a:off x="365760" y="457200"/>
            <a:ext cx="4828032" cy="457200"/>
          </a:xfrm>
          <a:prstGeom prst="rect">
            <a:avLst/>
          </a:prstGeom>
          <a:noFill/>
        </p:spPr>
        <p:txBody>
          <a:bodyPr wrap="square" anchor="ctr">
            <a:spAutoFit/>
          </a:bodyPr>
          <a:lstStyle/>
          <a:p>
            <a:pPr algn="l"/>
            <a:r>
              <a:rPr sz="1600" b="1">
                <a:solidFill>
                  <a:srgbClr val="FF6B6B"/>
                </a:solidFill>
                <a:latin typeface="Arial"/>
              </a:rPr>
              <a:t>본문 요약 (편집용)</a:t>
            </a:r>
          </a:p>
        </p:txBody>
      </p:sp>
      <p:sp>
        <p:nvSpPr>
          <p:cNvPr id="3" name="TextBox 2"/>
          <p:cNvSpPr txBox="1"/>
          <p:nvPr/>
        </p:nvSpPr>
        <p:spPr>
          <a:xfrm>
            <a:off x="365760" y="1097280"/>
            <a:ext cx="4828032" cy="457200"/>
          </a:xfrm>
          <a:prstGeom prst="rect">
            <a:avLst/>
          </a:prstGeom>
          <a:noFill/>
        </p:spPr>
        <p:txBody>
          <a:bodyPr wrap="square" anchor="t">
            <a:spAutoFit/>
          </a:bodyPr>
          <a:lstStyle/>
          <a:p>
            <a:pPr algn="l"/>
            <a:r>
              <a:rPr sz="1300" b="1">
                <a:solidFill>
                  <a:srgbClr val="FFFFFF"/>
                </a:solidFill>
                <a:latin typeface="Arial"/>
              </a:rPr>
              <a:t>◆ 결론 — Conclusion</a:t>
            </a:r>
          </a:p>
        </p:txBody>
      </p:sp>
      <p:sp>
        <p:nvSpPr>
          <p:cNvPr id="4" name="TextBox 3"/>
          <p:cNvSpPr txBox="1"/>
          <p:nvPr/>
        </p:nvSpPr>
        <p:spPr>
          <a:xfrm>
            <a:off x="457200" y="1600200"/>
            <a:ext cx="4736592" cy="3566160"/>
          </a:xfrm>
          <a:prstGeom prst="rect">
            <a:avLst/>
          </a:prstGeom>
          <a:noFill/>
        </p:spPr>
        <p:txBody>
          <a:bodyPr wrap="square" anchor="t">
            <a:spAutoFit/>
          </a:bodyPr>
          <a:lstStyle/>
          <a:p>
            <a:pPr algn="l"/>
            <a:r>
              <a:rPr sz="1000" b="0">
                <a:solidFill>
                  <a:srgbClr val="D5D8EA"/>
                </a:solidFill>
                <a:latin typeface="Arial"/>
              </a:rPr>
              <a:t>· CIA remains a significant and often inadequately addressed aspect of cancer care.
· Participants described gaps in counseling, variable access to preventive and management strategies, financial and logistical barriers, and unmet needs related to hair regrowth and psychosocial support.
· Standardized, evidence-based CIA education incorporated into routine pre-chemotherapy counseling represents an important starting point for improving care by ensuring that patients receive consistent information about anticipated hair loss and available prevention and management options.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2142A"/>
        </a:solidFill>
        <a:effectLst/>
      </p:bgPr>
    </p:bg>
    <p:spTree>
      <p:nvGrpSpPr>
        <p:cNvPr id="1" name=""/>
        <p:cNvGrpSpPr/>
        <p:nvPr/>
      </p:nvGrpSpPr>
      <p:grpSpPr/>
      <p:sp>
        <p:nvSpPr>
          <p:cNvPr id="2" name="TextBox 1"/>
          <p:cNvSpPr txBox="1"/>
          <p:nvPr/>
        </p:nvSpPr>
        <p:spPr>
          <a:xfrm>
            <a:off x="365760" y="731520"/>
            <a:ext cx="4828032" cy="548640"/>
          </a:xfrm>
          <a:prstGeom prst="rect">
            <a:avLst/>
          </a:prstGeom>
          <a:noFill/>
        </p:spPr>
        <p:txBody>
          <a:bodyPr wrap="square" anchor="ctr">
            <a:spAutoFit/>
          </a:bodyPr>
          <a:lstStyle/>
          <a:p>
            <a:pPr algn="ctr"/>
            <a:r>
              <a:rPr sz="2200" b="1">
                <a:solidFill>
                  <a:srgbClr val="FF6B6B"/>
                </a:solidFill>
                <a:latin typeface="Arial"/>
              </a:rPr>
              <a:t>출처</a:t>
            </a:r>
          </a:p>
        </p:txBody>
      </p:sp>
      <p:sp>
        <p:nvSpPr>
          <p:cNvPr id="3" name="TextBox 2"/>
          <p:cNvSpPr txBox="1"/>
          <p:nvPr/>
        </p:nvSpPr>
        <p:spPr>
          <a:xfrm>
            <a:off x="365760" y="1463040"/>
            <a:ext cx="4828032" cy="7680960"/>
          </a:xfrm>
          <a:prstGeom prst="rect">
            <a:avLst/>
          </a:prstGeom>
          <a:noFill/>
        </p:spPr>
        <p:txBody>
          <a:bodyPr wrap="square" anchor="t">
            <a:spAutoFit/>
          </a:bodyPr>
          <a:lstStyle/>
          <a:p>
            <a:pPr algn="l"/>
            <a:r>
              <a:rPr sz="1000" b="0">
                <a:solidFill>
                  <a:srgbClr val="D5D8EA"/>
                </a:solidFill>
                <a:latin typeface="Arial"/>
              </a:rPr>
              <a:t>[출처]
논문: Evaluating disparities in counseling and resources for chemotherapy-induced hair loss: qualitative analysis of a survey-based approach
게재: Supportive care in cancer : official journal of the Multinational Association of Supportive Care in Cancer
원문: https://pubmed.ncbi.nlm.nih.gov/42911279/
[이미지 출처]
- Male pattern baldness.jpg / Originally uploaded by Lkinkade (Transferred by XenonX3) / CC BY-SA 2.5
  https://commons.wikimedia.org/wiki/File:Male_pattern_baldness.jpg
- Male-pattern hair loss.jpg / BlaiserPascal / CC BY-SA 4.0
  https://commons.wikimedia.org/wiki/File:Male-pattern_hair_loss.jpg
※ CC BY-SA 이미지가 포함되어 있습니다. 저작자 표시가 필수이며,
  동일조건변경허락(ShareAlike) 조항이 영상 전체에 적용될 수 있으니
  상업적 이용 시 해당 이미지를 교체하는 편이 안전합니다.
[논문 본문 그림·표]
- PubMed Central PMC13690825 (재사용 가능 라이선스)
  https://www.ncbi.nlm.nih.gov/pmc/articles/PMC13690825/
  ※ 오픈액세스 논문의 그림·표이며, 위 원문 출처를 함께 표기하세요.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